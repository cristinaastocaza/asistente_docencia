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a esta sesión sobre inteligencia artificial en la educación. El objetivo es desmitificar la IA y mostrar herramientas prácticas que faciliten vuestra labor diaria sin reemplazar el valor insustituible del docente. Guíe a los participantes a reflexionar sobre sus propias expectativas frente a la tecnología.
Fotografía moderna de un aula iluminada con dispositivos digitales y docentes colaborando.
Imagen: Integrated physical artificial intelligence.png
Autor: Authors of the preprint study: Yingbo Li, Yucong Duan, Anamaria-Beatrice Spulber, Haoyang Che, Zakaria Maamar, Zhao Li, Chen Yang, Yu lei
Licencia: CC BY 4.0
https://commons.wikimedia.org/wiki/File:Integrated_physical_artificial_intelligence.png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fundamental comprender que la IA no 'piensa', sino que predice secuencias de texto basándose en patrones masivos. Para el docente, esto significa que debemos actuar como editores críticos, revisando siempre la precisión y el tono de cualquier contenido generado por la máquina antes de llevarlo al aula.
Imagen cercana de una interfaz de procesamiento de lenguaje natural en una pantalla.
Imagen: Artificial Intelligence, AI.jpg
Autor: mikemacmarketing
Licencia: CC BY 2.0
https://commons.wikimedia.org/wiki/File:Artificial_Intelligence,_AI.jpg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aborda el miedo común a la automatización. Explique que la tecnología asume el trabajo operativo y repetitivo, liberando tiempo valioso para la conexión humana y el acompañamiento emocional, aspectos donde la máquina no puede competir.
Fotografía de un profesor sonriente revisando trabajos mientras un portátil muestra gráficos.
Imagen: Laptop computer.jpeg
Autor: KK IN HK
Licencia: CC BY-SA 4.0
https://commons.wikimedia.org/wiki/File:Laptop_computer.jpeg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éxito al usar IA conversacional depende de la calidad de la instrucción. Guíe a los docentes a practicar la fórmula 'Rol + Tarea + Contexto + Formato'. Realice un ejemplo en vivo si es posible para mostrar cómo cambia el resultado al refinar el prompt.
Primer plano de manos escribiendo instrucciones detalladas en un teclado de ordenador.
Imagen: Moblie Computer Classroom, JeffCo Library, Belmar Library.jpg
Autor: Xnatedawgx
Licencia: CC BY-SA 4.0
https://commons.wikimedia.org/wiki/File:Moblie_Computer_Classroom,_JeffCo_Library,_Belmar_Library.jpg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Momento de práctica activa. Permita 5 minutos para que los docentes redacten su prompt, lo prueben en sus dispositivos y compartan el resultado. Respuesta orientativa esperada: Las rúbricas iniciales son genéricas, pero al añadir restricciones de nivel y formato, la IA produce tablas listas para usar.
Docentes trabajando en equipo alrededor de una mesa con ordenadores y notas adhesivas.
Imagen: Students working on class assignment in computer lab.jpg
Autor: Michael Surran
Licencia: CC BY-SA 2.0
https://commons.wikimedia.org/wiki/File:Students_working_on_class_assignment_in_computer_lab.jpg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la sesión recapitulando los puntos clave. Enfatice que la tecnología avanza rápido, pero los valores éticos y el pensamiento crítico son el ancla de la buena educación. Invite a los profesores a dar el primer paso probando una sola herramienta esta semana.
Imagen inspiradora de un atardecer sobre un edificio escolar moderno con siluetas digitales.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Fotografías educativas de Wikimedia Commons. Las imágenes ilustran el tema; no constituyen evidencia de cifras o afirmaciones.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Fotografías educativas de Wikimedia Commons. Las imágenes ilustran el tema; no constituyen evidencia de cifras o afirmaciones.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commons.wikimedia.org/wiki/File:Integrated_physical_artificial_intelligence.png" TargetMode="External"/><Relationship Id="rId4" Type="http://schemas.openxmlformats.org/officeDocument/2006/relationships/hyperlink" Target="https://commons.wikimedia.org/wiki/File:Artificial_Intelligence,_AI.jpg" TargetMode="External"/><Relationship Id="rId6" Type="http://schemas.openxmlformats.org/officeDocument/2006/relationships/hyperlink" Target="https://commons.wikimedia.org/wiki/File:Laptop_computer.jpeg" TargetMode="External"/><Relationship Id="rId8" Type="http://schemas.openxmlformats.org/officeDocument/2006/relationships/hyperlink" Target="https://commons.wikimedia.org/wiki/File:Moblie_Computer_Classroom,_JeffCo_Library,_Belmar_Library.jpg" TargetMode="External"/><Relationship Id="rId1" Type="http://schemas.openxmlformats.org/officeDocument/2006/relationships/image" Target="../media/image-7-1.png"/><Relationship Id="rId3" Type="http://schemas.openxmlformats.org/officeDocument/2006/relationships/image" Target="../media/image-7-2.jpeg"/><Relationship Id="rId5" Type="http://schemas.openxmlformats.org/officeDocument/2006/relationships/image" Target="../media/image-7-3.jpeg"/><Relationship Id="rId7" Type="http://schemas.openxmlformats.org/officeDocument/2006/relationships/image" Target="../media/image-7-4.jpe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commons.wikimedia.org/wiki/File:Students_working_on_class_assignment_in_computer_lab.jpg" TargetMode="External"/><Relationship Id="rId1" Type="http://schemas.openxmlformats.org/officeDocument/2006/relationships/image" Target="../media/image-8-1.jpe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5FF"/>
        </a:solidFill>
      </p:bgPr>
    </p:bg>
    <p:spTree>
      <p:nvGrpSpPr>
        <p:cNvPr id="1" name=""/>
        <p:cNvGrpSpPr/>
        <p:nvPr/>
      </p:nvGrpSpPr>
      <p:grpSpPr>
        <a:xfrm>
          <a:off x="0" y="0"/>
          <a:ext cx="0" cy="0"/>
          <a:chOff x="0" y="0"/>
          <a:chExt cx="0" cy="0"/>
        </a:xfrm>
      </p:grpSpPr>
      <p:sp>
        <p:nvSpPr>
          <p:cNvPr id="2" name="Shape 0"/>
          <p:cNvSpPr/>
          <p:nvPr/>
        </p:nvSpPr>
        <p:spPr>
          <a:xfrm>
            <a:off x="0" y="0"/>
            <a:ext cx="12192000" cy="114300"/>
          </a:xfrm>
          <a:prstGeom prst="rect">
            <a:avLst/>
          </a:prstGeom>
          <a:solidFill>
            <a:srgbClr val="3B54DB"/>
          </a:solidFill>
          <a:ln w="12700">
            <a:solidFill>
              <a:srgbClr val="3B54DB"/>
            </a:solidFill>
            <a:prstDash val="solid"/>
          </a:ln>
        </p:spPr>
      </p:sp>
      <p:sp>
        <p:nvSpPr>
          <p:cNvPr id="3" name="Shape 1"/>
          <p:cNvSpPr/>
          <p:nvPr/>
        </p:nvSpPr>
        <p:spPr>
          <a:xfrm>
            <a:off x="11366500" y="254000"/>
            <a:ext cx="1206500" cy="1206500"/>
          </a:xfrm>
          <a:prstGeom prst="ellipse">
            <a:avLst/>
          </a:prstGeom>
          <a:solidFill>
            <a:srgbClr val="E3E9FF"/>
          </a:solidFill>
          <a:ln w="12700">
            <a:solidFill>
              <a:srgbClr val="E3E9FF"/>
            </a:solidFill>
            <a:prstDash val="solid"/>
          </a:ln>
        </p:spPr>
      </p:sp>
      <p:sp>
        <p:nvSpPr>
          <p:cNvPr id="4" name="Shape 2"/>
          <p:cNvSpPr/>
          <p:nvPr/>
        </p:nvSpPr>
        <p:spPr>
          <a:xfrm>
            <a:off x="11722100" y="1016000"/>
            <a:ext cx="381000" cy="381000"/>
          </a:xfrm>
          <a:prstGeom prst="ellipse">
            <a:avLst/>
          </a:prstGeom>
          <a:solidFill>
            <a:srgbClr val="06B6D4"/>
          </a:solidFill>
          <a:ln w="12700">
            <a:solidFill>
              <a:srgbClr val="06B6D4"/>
            </a:solidFill>
            <a:prstDash val="solid"/>
          </a:ln>
        </p:spPr>
      </p:sp>
      <p:sp>
        <p:nvSpPr>
          <p:cNvPr id="5" name="Shape 3"/>
          <p:cNvSpPr/>
          <p:nvPr/>
        </p:nvSpPr>
        <p:spPr>
          <a:xfrm>
            <a:off x="0" y="114300"/>
            <a:ext cx="6731000" cy="6743700"/>
          </a:xfrm>
          <a:prstGeom prst="rect">
            <a:avLst/>
          </a:prstGeom>
          <a:solidFill>
            <a:srgbClr val="172554"/>
          </a:solidFill>
          <a:ln w="12700">
            <a:solidFill>
              <a:srgbClr val="172554"/>
            </a:solidFill>
            <a:prstDash val="solid"/>
          </a:ln>
        </p:spPr>
      </p:sp>
      <p:sp>
        <p:nvSpPr>
          <p:cNvPr id="6" name="Shape 4"/>
          <p:cNvSpPr/>
          <p:nvPr/>
        </p:nvSpPr>
        <p:spPr>
          <a:xfrm>
            <a:off x="508000" y="762000"/>
            <a:ext cx="825500" cy="63500"/>
          </a:xfrm>
          <a:prstGeom prst="rect">
            <a:avLst/>
          </a:prstGeom>
          <a:solidFill>
            <a:srgbClr val="06B6D4"/>
          </a:solidFill>
          <a:ln w="12700">
            <a:solidFill>
              <a:srgbClr val="06B6D4"/>
            </a:solidFill>
            <a:prstDash val="solid"/>
          </a:ln>
        </p:spPr>
      </p:sp>
      <p:sp>
        <p:nvSpPr>
          <p:cNvPr id="7" name="Text 5"/>
          <p:cNvSpPr/>
          <p:nvPr/>
        </p:nvSpPr>
        <p:spPr>
          <a:xfrm>
            <a:off x="533400" y="1054100"/>
            <a:ext cx="5461000" cy="355600"/>
          </a:xfrm>
          <a:prstGeom prst="rect">
            <a:avLst/>
          </a:prstGeom>
          <a:noFill/>
          <a:ln/>
        </p:spPr>
        <p:txBody>
          <a:bodyPr wrap="square" lIns="0" tIns="0" rIns="0" bIns="0" rtlCol="0" anchor="t"/>
          <a:lstStyle/>
          <a:p>
            <a:pPr indent="0" marL="0">
              <a:lnSpc>
                <a:spcPct val="123000"/>
              </a:lnSpc>
              <a:buNone/>
            </a:pPr>
            <a:r>
              <a:rPr lang="en-US" sz="1100" b="1" dirty="0">
                <a:solidFill>
                  <a:srgbClr val="06B6D4"/>
                </a:solidFill>
                <a:latin typeface="Arial" pitchFamily="34" charset="0"/>
                <a:ea typeface="Arial" pitchFamily="34" charset="-122"/>
                <a:cs typeface="Arial" pitchFamily="34" charset="-120"/>
              </a:rPr>
              <a:t>EXPLORAR · COMPRENDER · APLICAR</a:t>
            </a:r>
            <a:endParaRPr lang="en-US" sz="1100" dirty="0"/>
          </a:p>
        </p:txBody>
      </p:sp>
      <p:sp>
        <p:nvSpPr>
          <p:cNvPr id="8" name="Text 6"/>
          <p:cNvSpPr/>
          <p:nvPr/>
        </p:nvSpPr>
        <p:spPr>
          <a:xfrm>
            <a:off x="533400" y="1778000"/>
            <a:ext cx="5461000" cy="2082800"/>
          </a:xfrm>
          <a:prstGeom prst="rect">
            <a:avLst/>
          </a:prstGeom>
          <a:noFill/>
          <a:ln/>
        </p:spPr>
        <p:txBody>
          <a:bodyPr wrap="square" lIns="0" tIns="0" rIns="0" bIns="0" rtlCol="0" anchor="t"/>
          <a:lstStyle/>
          <a:p>
            <a:pPr indent="0" marL="0">
              <a:lnSpc>
                <a:spcPct val="123000"/>
              </a:lnSpc>
              <a:buNone/>
            </a:pPr>
            <a:r>
              <a:rPr lang="en-US" sz="4000" b="1" dirty="0">
                <a:solidFill>
                  <a:srgbClr val="FFFFFF"/>
                </a:solidFill>
                <a:latin typeface="Arial" pitchFamily="34" charset="0"/>
                <a:ea typeface="Arial" pitchFamily="34" charset="-122"/>
                <a:cs typeface="Arial" pitchFamily="34" charset="-120"/>
              </a:rPr>
              <a:t>Revolucionando la</a:t>
            </a:r>
            <a:endParaRPr lang="en-US" sz="4000" dirty="0"/>
          </a:p>
          <a:p>
            <a:pPr indent="0" marL="0">
              <a:lnSpc>
                <a:spcPct val="123000"/>
              </a:lnSpc>
              <a:buNone/>
            </a:pPr>
            <a:r>
              <a:rPr lang="en-US" sz="4000" b="1" dirty="0">
                <a:solidFill>
                  <a:srgbClr val="FFFFFF"/>
                </a:solidFill>
                <a:latin typeface="Arial" pitchFamily="34" charset="0"/>
                <a:ea typeface="Arial" pitchFamily="34" charset="-122"/>
                <a:cs typeface="Arial" pitchFamily="34" charset="-120"/>
              </a:rPr>
              <a:t>Práctica Docente con</a:t>
            </a:r>
            <a:endParaRPr lang="en-US" sz="4000" dirty="0"/>
          </a:p>
          <a:p>
            <a:pPr indent="0" marL="0">
              <a:lnSpc>
                <a:spcPct val="123000"/>
              </a:lnSpc>
              <a:buNone/>
            </a:pPr>
            <a:r>
              <a:rPr lang="en-US" sz="4000" b="1" dirty="0">
                <a:solidFill>
                  <a:srgbClr val="FFFFFF"/>
                </a:solidFill>
                <a:latin typeface="Arial" pitchFamily="34" charset="0"/>
                <a:ea typeface="Arial" pitchFamily="34" charset="-122"/>
                <a:cs typeface="Arial" pitchFamily="34" charset="-120"/>
              </a:rPr>
              <a:t>IA</a:t>
            </a:r>
            <a:endParaRPr lang="en-US" sz="4000" dirty="0"/>
          </a:p>
        </p:txBody>
      </p:sp>
      <p:sp>
        <p:nvSpPr>
          <p:cNvPr id="9" name="Text 7"/>
          <p:cNvSpPr/>
          <p:nvPr/>
        </p:nvSpPr>
        <p:spPr>
          <a:xfrm>
            <a:off x="533400" y="4140200"/>
            <a:ext cx="5461000" cy="1574800"/>
          </a:xfrm>
          <a:prstGeom prst="rect">
            <a:avLst/>
          </a:prstGeom>
          <a:noFill/>
          <a:ln/>
        </p:spPr>
        <p:txBody>
          <a:bodyPr wrap="square" lIns="0" tIns="0" rIns="0" bIns="0" rtlCol="0" anchor="t"/>
          <a:lstStyle/>
          <a:p>
            <a:pPr indent="0" marL="0">
              <a:lnSpc>
                <a:spcPct val="123000"/>
              </a:lnSpc>
              <a:buNone/>
            </a:pPr>
            <a:r>
              <a:rPr lang="en-US" sz="2000" dirty="0">
                <a:solidFill>
                  <a:srgbClr val="FFFFFF"/>
                </a:solidFill>
                <a:latin typeface="Arial" pitchFamily="34" charset="0"/>
                <a:ea typeface="Arial" pitchFamily="34" charset="-122"/>
                <a:cs typeface="Arial" pitchFamily="34" charset="-120"/>
              </a:rPr>
              <a:t>Estrategias para integrar la tecnología en el</a:t>
            </a:r>
            <a:endParaRPr lang="en-US" sz="2000" dirty="0"/>
          </a:p>
          <a:p>
            <a:pPr indent="0" marL="0">
              <a:lnSpc>
                <a:spcPct val="123000"/>
              </a:lnSpc>
              <a:buNone/>
            </a:pPr>
            <a:r>
              <a:rPr lang="en-US" sz="2000" dirty="0">
                <a:solidFill>
                  <a:srgbClr val="FFFFFF"/>
                </a:solidFill>
                <a:latin typeface="Arial" pitchFamily="34" charset="0"/>
                <a:ea typeface="Arial" pitchFamily="34" charset="-122"/>
                <a:cs typeface="Arial" pitchFamily="34" charset="-120"/>
              </a:rPr>
              <a:t>aprendizaje</a:t>
            </a:r>
            <a:endParaRPr lang="en-US" sz="2000" dirty="0"/>
          </a:p>
          <a:p>
            <a:pPr indent="0" marL="0">
              <a:lnSpc>
                <a:spcPct val="123000"/>
              </a:lnSpc>
              <a:buNone/>
            </a:pPr>
            <a:r>
              <a:rPr lang="en-US" sz="2000" dirty="0">
                <a:solidFill>
                  <a:srgbClr val="FFFFFF"/>
                </a:solidFill>
                <a:latin typeface="Arial" pitchFamily="34" charset="0"/>
                <a:ea typeface="Arial" pitchFamily="34" charset="-122"/>
                <a:cs typeface="Arial" pitchFamily="34" charset="-120"/>
              </a:rPr>
              <a:t>Una introducción al uso ético y pedagógico de</a:t>
            </a:r>
            <a:endParaRPr lang="en-US" sz="2000" dirty="0"/>
          </a:p>
          <a:p>
            <a:pPr indent="0" marL="0">
              <a:lnSpc>
                <a:spcPct val="123000"/>
              </a:lnSpc>
              <a:buNone/>
            </a:pPr>
            <a:r>
              <a:rPr lang="en-US" sz="2000" dirty="0">
                <a:solidFill>
                  <a:srgbClr val="FFFFFF"/>
                </a:solidFill>
                <a:latin typeface="Arial" pitchFamily="34" charset="0"/>
                <a:ea typeface="Arial" pitchFamily="34" charset="-122"/>
                <a:cs typeface="Arial" pitchFamily="34" charset="-120"/>
              </a:rPr>
              <a:t>la inteligencia artificial para transformar la</a:t>
            </a:r>
            <a:endParaRPr lang="en-US" sz="2000" dirty="0"/>
          </a:p>
          <a:p>
            <a:pPr indent="0" marL="0">
              <a:lnSpc>
                <a:spcPct val="123000"/>
              </a:lnSpc>
              <a:buNone/>
            </a:pPr>
            <a:r>
              <a:rPr lang="en-US" sz="2000" dirty="0">
                <a:solidFill>
                  <a:srgbClr val="FFFFFF"/>
                </a:solidFill>
                <a:latin typeface="Arial" pitchFamily="34" charset="0"/>
                <a:ea typeface="Arial" pitchFamily="34" charset="-122"/>
                <a:cs typeface="Arial" pitchFamily="34" charset="-120"/>
              </a:rPr>
              <a:t>enseñanza y potenciar el aprendizaje activo.</a:t>
            </a:r>
            <a:endParaRPr lang="en-US" sz="2000" dirty="0"/>
          </a:p>
        </p:txBody>
      </p:sp>
      <p:sp>
        <p:nvSpPr>
          <p:cNvPr id="10" name="Shape 8"/>
          <p:cNvSpPr/>
          <p:nvPr/>
        </p:nvSpPr>
        <p:spPr>
          <a:xfrm>
            <a:off x="7213600" y="1308100"/>
            <a:ext cx="4368800" cy="3860800"/>
          </a:xfrm>
          <a:prstGeom prst="roundRect">
            <a:avLst/>
          </a:prstGeom>
          <a:solidFill>
            <a:srgbClr val="E3E9FF"/>
          </a:solidFill>
          <a:ln w="12700">
            <a:solidFill>
              <a:srgbClr val="E3E9FF"/>
            </a:solidFill>
            <a:prstDash val="solid"/>
          </a:ln>
        </p:spPr>
      </p:sp>
      <p:pic>
        <p:nvPicPr>
          <p:cNvPr id="11" name="Image 0" descr="Integrated physical artificial intelligence.png">    </p:cNvPr>
          <p:cNvPicPr>
            <a:picLocks noChangeAspect="1"/>
          </p:cNvPicPr>
          <p:nvPr/>
        </p:nvPicPr>
        <p:blipFill>
          <a:blip r:embed="rId1"/>
          <a:stretch>
            <a:fillRect/>
          </a:stretch>
        </p:blipFill>
        <p:spPr>
          <a:xfrm>
            <a:off x="7315200" y="2111705"/>
            <a:ext cx="4165600" cy="2253590"/>
          </a:xfrm>
          <a:prstGeom prst="rect">
            <a:avLst/>
          </a:prstGeom>
        </p:spPr>
      </p:pic>
      <p:sp>
        <p:nvSpPr>
          <p:cNvPr id="12" name="Text 9"/>
          <p:cNvSpPr/>
          <p:nvPr/>
        </p:nvSpPr>
        <p:spPr>
          <a:xfrm>
            <a:off x="533400" y="6540500"/>
            <a:ext cx="8255000" cy="190500"/>
          </a:xfrm>
          <a:prstGeom prst="rect">
            <a:avLst/>
          </a:prstGeom>
          <a:noFill/>
          <a:ln/>
        </p:spPr>
        <p:txBody>
          <a:bodyPr wrap="square" lIns="0" tIns="0" rIns="0" bIns="0" rtlCol="0" anchor="t"/>
          <a:lstStyle/>
          <a:p>
            <a:pPr indent="0" marL="0">
              <a:lnSpc>
                <a:spcPct val="123000"/>
              </a:lnSpc>
              <a:buNone/>
            </a:pPr>
            <a:r>
              <a:rPr lang="en-US" sz="800" dirty="0">
                <a:solidFill>
                  <a:srgbClr val="FFFFFF"/>
                </a:solidFill>
                <a:latin typeface="Arial" pitchFamily="34" charset="0"/>
                <a:ea typeface="Arial" pitchFamily="34" charset="-122"/>
                <a:cs typeface="Arial" pitchFamily="34" charset="-120"/>
              </a:rPr>
              <a:t>Inteligencia Artificial en el Aula: Guía Práctica para Docentes</a:t>
            </a:r>
            <a:endParaRPr lang="en-US" sz="800" dirty="0"/>
          </a:p>
        </p:txBody>
      </p:sp>
      <p:sp>
        <p:nvSpPr>
          <p:cNvPr id="13" name="Text 10"/>
          <p:cNvSpPr/>
          <p:nvPr/>
        </p:nvSpPr>
        <p:spPr>
          <a:xfrm>
            <a:off x="10922000" y="6515100"/>
            <a:ext cx="736600" cy="228600"/>
          </a:xfrm>
          <a:prstGeom prst="rect">
            <a:avLst/>
          </a:prstGeom>
          <a:noFill/>
          <a:ln/>
        </p:spPr>
        <p:txBody>
          <a:bodyPr wrap="square" lIns="0" tIns="0" rIns="0" bIns="0" rtlCol="0" anchor="t"/>
          <a:lstStyle/>
          <a:p>
            <a:pPr indent="0" marL="0">
              <a:lnSpc>
                <a:spcPct val="123000"/>
              </a:lnSpc>
              <a:buNone/>
            </a:pPr>
            <a:r>
              <a:rPr lang="en-US" sz="900" b="1" dirty="0">
                <a:solidFill>
                  <a:srgbClr val="3B54DB"/>
                </a:solidFill>
                <a:latin typeface="Arial" pitchFamily="34" charset="0"/>
                <a:ea typeface="Arial" pitchFamily="34" charset="-122"/>
                <a:cs typeface="Arial" pitchFamily="34" charset="-120"/>
              </a:rPr>
              <a:t>1 / 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F"/>
        </a:solidFill>
      </p:bgPr>
    </p:bg>
    <p:spTree>
      <p:nvGrpSpPr>
        <p:cNvPr id="1" name=""/>
        <p:cNvGrpSpPr/>
        <p:nvPr/>
      </p:nvGrpSpPr>
      <p:grpSpPr>
        <a:xfrm>
          <a:off x="0" y="0"/>
          <a:ext cx="0" cy="0"/>
          <a:chOff x="0" y="0"/>
          <a:chExt cx="0" cy="0"/>
        </a:xfrm>
      </p:grpSpPr>
      <p:sp>
        <p:nvSpPr>
          <p:cNvPr id="2" name="Shape 0"/>
          <p:cNvSpPr/>
          <p:nvPr/>
        </p:nvSpPr>
        <p:spPr>
          <a:xfrm>
            <a:off x="0" y="0"/>
            <a:ext cx="12192000" cy="114300"/>
          </a:xfrm>
          <a:prstGeom prst="rect">
            <a:avLst/>
          </a:prstGeom>
          <a:solidFill>
            <a:srgbClr val="3B54DB"/>
          </a:solidFill>
          <a:ln w="12700">
            <a:solidFill>
              <a:srgbClr val="3B54DB"/>
            </a:solidFill>
            <a:prstDash val="solid"/>
          </a:ln>
        </p:spPr>
      </p:sp>
      <p:sp>
        <p:nvSpPr>
          <p:cNvPr id="3" name="Shape 1"/>
          <p:cNvSpPr/>
          <p:nvPr/>
        </p:nvSpPr>
        <p:spPr>
          <a:xfrm>
            <a:off x="11366500" y="254000"/>
            <a:ext cx="1206500" cy="1206500"/>
          </a:xfrm>
          <a:prstGeom prst="ellipse">
            <a:avLst/>
          </a:prstGeom>
          <a:solidFill>
            <a:srgbClr val="E3E9FF"/>
          </a:solidFill>
          <a:ln w="12700">
            <a:solidFill>
              <a:srgbClr val="E3E9FF"/>
            </a:solidFill>
            <a:prstDash val="solid"/>
          </a:ln>
        </p:spPr>
      </p:sp>
      <p:sp>
        <p:nvSpPr>
          <p:cNvPr id="4" name="Shape 2"/>
          <p:cNvSpPr/>
          <p:nvPr/>
        </p:nvSpPr>
        <p:spPr>
          <a:xfrm>
            <a:off x="11722100" y="1016000"/>
            <a:ext cx="381000" cy="381000"/>
          </a:xfrm>
          <a:prstGeom prst="ellipse">
            <a:avLst/>
          </a:prstGeom>
          <a:solidFill>
            <a:srgbClr val="06B6D4"/>
          </a:solidFill>
          <a:ln w="12700">
            <a:solidFill>
              <a:srgbClr val="06B6D4"/>
            </a:solidFill>
            <a:prstDash val="solid"/>
          </a:ln>
        </p:spPr>
      </p:sp>
      <p:sp>
        <p:nvSpPr>
          <p:cNvPr id="5" name="Text 3"/>
          <p:cNvSpPr/>
          <p:nvPr/>
        </p:nvSpPr>
        <p:spPr>
          <a:xfrm>
            <a:off x="533400" y="368300"/>
            <a:ext cx="10668000" cy="254000"/>
          </a:xfrm>
          <a:prstGeom prst="rect">
            <a:avLst/>
          </a:prstGeom>
          <a:noFill/>
          <a:ln/>
        </p:spPr>
        <p:txBody>
          <a:bodyPr wrap="square" lIns="0" tIns="0" rIns="0" bIns="0" rtlCol="0" anchor="t"/>
          <a:lstStyle/>
          <a:p>
            <a:pPr indent="0" marL="0">
              <a:lnSpc>
                <a:spcPct val="123000"/>
              </a:lnSpc>
              <a:buNone/>
            </a:pPr>
            <a:r>
              <a:rPr lang="en-US" sz="1000" b="1" dirty="0">
                <a:solidFill>
                  <a:srgbClr val="3B54DB"/>
                </a:solidFill>
                <a:latin typeface="Arial" pitchFamily="34" charset="0"/>
                <a:ea typeface="Arial" pitchFamily="34" charset="-122"/>
                <a:cs typeface="Arial" pitchFamily="34" charset="-120"/>
              </a:rPr>
              <a:t>EXPLORA / 02</a:t>
            </a:r>
            <a:endParaRPr lang="en-US" sz="1000" dirty="0"/>
          </a:p>
        </p:txBody>
      </p:sp>
      <p:sp>
        <p:nvSpPr>
          <p:cNvPr id="6" name="Text 4"/>
          <p:cNvSpPr/>
          <p:nvPr/>
        </p:nvSpPr>
        <p:spPr>
          <a:xfrm>
            <a:off x="533400" y="787400"/>
            <a:ext cx="10668000" cy="838200"/>
          </a:xfrm>
          <a:prstGeom prst="rect">
            <a:avLst/>
          </a:prstGeom>
          <a:noFill/>
          <a:ln/>
        </p:spPr>
        <p:txBody>
          <a:bodyPr wrap="square" lIns="0" tIns="0" rIns="0" bIns="0" rtlCol="0" anchor="t"/>
          <a:lstStyle/>
          <a:p>
            <a:pPr indent="0" marL="0">
              <a:lnSpc>
                <a:spcPct val="123000"/>
              </a:lnSpc>
              <a:buNone/>
            </a:pPr>
            <a:r>
              <a:rPr lang="en-US" sz="3100" b="1" dirty="0">
                <a:solidFill>
                  <a:srgbClr val="172554"/>
                </a:solidFill>
                <a:latin typeface="Arial" pitchFamily="34" charset="0"/>
                <a:ea typeface="Arial" pitchFamily="34" charset="-122"/>
                <a:cs typeface="Arial" pitchFamily="34" charset="-120"/>
              </a:rPr>
              <a:t>Fundamentos y Funcionamiento de la IA Educativa</a:t>
            </a:r>
            <a:endParaRPr lang="en-US" sz="3100" dirty="0"/>
          </a:p>
        </p:txBody>
      </p:sp>
      <p:sp>
        <p:nvSpPr>
          <p:cNvPr id="7" name="Text 5"/>
          <p:cNvSpPr/>
          <p:nvPr/>
        </p:nvSpPr>
        <p:spPr>
          <a:xfrm>
            <a:off x="533400" y="1676400"/>
            <a:ext cx="10795000" cy="381000"/>
          </a:xfrm>
          <a:prstGeom prst="rect">
            <a:avLst/>
          </a:prstGeom>
          <a:noFill/>
          <a:ln/>
        </p:spPr>
        <p:txBody>
          <a:bodyPr wrap="square" lIns="0" tIns="0" rIns="0" bIns="0" rtlCol="0" anchor="t"/>
          <a:lstStyle/>
          <a:p>
            <a:pPr indent="0" marL="0">
              <a:lnSpc>
                <a:spcPct val="123000"/>
              </a:lnSpc>
              <a:buNone/>
            </a:pPr>
            <a:r>
              <a:rPr lang="en-US" sz="1300" dirty="0">
                <a:solidFill>
                  <a:srgbClr val="3B54DB"/>
                </a:solidFill>
                <a:latin typeface="Arial" pitchFamily="34" charset="0"/>
                <a:ea typeface="Arial" pitchFamily="34" charset="-122"/>
                <a:cs typeface="Arial" pitchFamily="34" charset="-120"/>
              </a:rPr>
              <a:t>Comprendiendo la herramienta detrás de la pantalla</a:t>
            </a:r>
            <a:endParaRPr lang="en-US" sz="1300" dirty="0"/>
          </a:p>
        </p:txBody>
      </p:sp>
      <p:sp>
        <p:nvSpPr>
          <p:cNvPr id="8" name="Shape 6"/>
          <p:cNvSpPr/>
          <p:nvPr/>
        </p:nvSpPr>
        <p:spPr>
          <a:xfrm>
            <a:off x="533400" y="2146300"/>
            <a:ext cx="6223000" cy="806450"/>
          </a:xfrm>
          <a:prstGeom prst="roundRect">
            <a:avLst/>
          </a:prstGeom>
          <a:solidFill>
            <a:srgbClr val="FFFFFF"/>
          </a:solidFill>
          <a:ln w="12700">
            <a:solidFill>
              <a:srgbClr val="FFFFFF"/>
            </a:solidFill>
            <a:prstDash val="solid"/>
          </a:ln>
        </p:spPr>
      </p:sp>
      <p:sp>
        <p:nvSpPr>
          <p:cNvPr id="9" name="Shape 7"/>
          <p:cNvSpPr/>
          <p:nvPr/>
        </p:nvSpPr>
        <p:spPr>
          <a:xfrm>
            <a:off x="533400" y="2146300"/>
            <a:ext cx="50800" cy="806450"/>
          </a:xfrm>
          <a:prstGeom prst="rect">
            <a:avLst/>
          </a:prstGeom>
          <a:solidFill>
            <a:srgbClr val="3B54DB"/>
          </a:solidFill>
          <a:ln w="12700">
            <a:solidFill>
              <a:srgbClr val="3B54DB"/>
            </a:solidFill>
            <a:prstDash val="solid"/>
          </a:ln>
        </p:spPr>
      </p:sp>
      <p:sp>
        <p:nvSpPr>
          <p:cNvPr id="10" name="Text 8"/>
          <p:cNvSpPr/>
          <p:nvPr/>
        </p:nvSpPr>
        <p:spPr>
          <a:xfrm>
            <a:off x="736600" y="232410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01</a:t>
            </a:r>
            <a:endParaRPr lang="en-US" sz="1300" dirty="0"/>
          </a:p>
        </p:txBody>
      </p:sp>
      <p:sp>
        <p:nvSpPr>
          <p:cNvPr id="11" name="Text 9"/>
          <p:cNvSpPr/>
          <p:nvPr/>
        </p:nvSpPr>
        <p:spPr>
          <a:xfrm>
            <a:off x="1231900" y="2311400"/>
            <a:ext cx="5308600" cy="527050"/>
          </a:xfrm>
          <a:prstGeom prst="rect">
            <a:avLst/>
          </a:prstGeom>
          <a:noFill/>
          <a:ln/>
        </p:spPr>
        <p:txBody>
          <a:bodyPr wrap="square" lIns="0" tIns="0" rIns="0" bIns="0" rtlCol="0" anchor="t"/>
          <a:lstStyle/>
          <a:p>
            <a:pPr indent="0" marL="0">
              <a:lnSpc>
                <a:spcPct val="123000"/>
              </a:lnSpc>
              <a:buNone/>
            </a:pPr>
            <a:r>
              <a:rPr lang="en-US" sz="1350" dirty="0">
                <a:solidFill>
                  <a:srgbClr val="172554"/>
                </a:solidFill>
                <a:latin typeface="Arial" pitchFamily="34" charset="0"/>
                <a:ea typeface="Arial" pitchFamily="34" charset="-122"/>
                <a:cs typeface="Arial" pitchFamily="34" charset="-120"/>
              </a:rPr>
              <a:t>Modelos de lenguaje y algoritmos entrenados para procesar lenguaje</a:t>
            </a:r>
            <a:endParaRPr lang="en-US" sz="1350" dirty="0"/>
          </a:p>
          <a:p>
            <a:pPr indent="0" marL="0">
              <a:lnSpc>
                <a:spcPct val="123000"/>
              </a:lnSpc>
              <a:buNone/>
            </a:pPr>
            <a:r>
              <a:rPr lang="en-US" sz="1350" dirty="0">
                <a:solidFill>
                  <a:srgbClr val="172554"/>
                </a:solidFill>
                <a:latin typeface="Arial" pitchFamily="34" charset="0"/>
                <a:ea typeface="Arial" pitchFamily="34" charset="-122"/>
                <a:cs typeface="Arial" pitchFamily="34" charset="-120"/>
              </a:rPr>
              <a:t>natural, asistir en la redacción y proponer dinámicas de clase.</a:t>
            </a:r>
            <a:endParaRPr lang="en-US" sz="1350" dirty="0"/>
          </a:p>
        </p:txBody>
      </p:sp>
      <p:sp>
        <p:nvSpPr>
          <p:cNvPr id="12" name="Shape 10"/>
          <p:cNvSpPr/>
          <p:nvPr/>
        </p:nvSpPr>
        <p:spPr>
          <a:xfrm>
            <a:off x="533400" y="3105150"/>
            <a:ext cx="6223000" cy="806450"/>
          </a:xfrm>
          <a:prstGeom prst="roundRect">
            <a:avLst/>
          </a:prstGeom>
          <a:solidFill>
            <a:srgbClr val="FFFFFF"/>
          </a:solidFill>
          <a:ln w="12700">
            <a:solidFill>
              <a:srgbClr val="FFFFFF"/>
            </a:solidFill>
            <a:prstDash val="solid"/>
          </a:ln>
        </p:spPr>
      </p:sp>
      <p:sp>
        <p:nvSpPr>
          <p:cNvPr id="13" name="Shape 11"/>
          <p:cNvSpPr/>
          <p:nvPr/>
        </p:nvSpPr>
        <p:spPr>
          <a:xfrm>
            <a:off x="533400" y="3105150"/>
            <a:ext cx="50800" cy="806450"/>
          </a:xfrm>
          <a:prstGeom prst="rect">
            <a:avLst/>
          </a:prstGeom>
          <a:solidFill>
            <a:srgbClr val="06B6D4"/>
          </a:solidFill>
          <a:ln w="12700">
            <a:solidFill>
              <a:srgbClr val="06B6D4"/>
            </a:solidFill>
            <a:prstDash val="solid"/>
          </a:ln>
        </p:spPr>
      </p:sp>
      <p:sp>
        <p:nvSpPr>
          <p:cNvPr id="14" name="Text 12"/>
          <p:cNvSpPr/>
          <p:nvPr/>
        </p:nvSpPr>
        <p:spPr>
          <a:xfrm>
            <a:off x="736600" y="328295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02</a:t>
            </a:r>
            <a:endParaRPr lang="en-US" sz="1300" dirty="0"/>
          </a:p>
        </p:txBody>
      </p:sp>
      <p:sp>
        <p:nvSpPr>
          <p:cNvPr id="15" name="Text 13"/>
          <p:cNvSpPr/>
          <p:nvPr/>
        </p:nvSpPr>
        <p:spPr>
          <a:xfrm>
            <a:off x="1231900" y="3270250"/>
            <a:ext cx="5308600" cy="527050"/>
          </a:xfrm>
          <a:prstGeom prst="rect">
            <a:avLst/>
          </a:prstGeom>
          <a:noFill/>
          <a:ln/>
        </p:spPr>
        <p:txBody>
          <a:bodyPr wrap="square" lIns="0" tIns="0" rIns="0" bIns="0" rtlCol="0" anchor="t"/>
          <a:lstStyle/>
          <a:p>
            <a:pPr indent="0" marL="0">
              <a:lnSpc>
                <a:spcPct val="123000"/>
              </a:lnSpc>
              <a:buNone/>
            </a:pPr>
            <a:r>
              <a:rPr lang="en-US" sz="1550" dirty="0">
                <a:solidFill>
                  <a:srgbClr val="172554"/>
                </a:solidFill>
                <a:latin typeface="Arial" pitchFamily="34" charset="0"/>
                <a:ea typeface="Arial" pitchFamily="34" charset="-122"/>
                <a:cs typeface="Arial" pitchFamily="34" charset="-120"/>
              </a:rPr>
              <a:t>Generación automática de cuestionarios adaptados al nivel</a:t>
            </a:r>
            <a:endParaRPr lang="en-US" sz="1550" dirty="0"/>
          </a:p>
          <a:p>
            <a:pPr indent="0" marL="0">
              <a:lnSpc>
                <a:spcPct val="123000"/>
              </a:lnSpc>
              <a:buNone/>
            </a:pPr>
            <a:r>
              <a:rPr lang="en-US" sz="1550" dirty="0">
                <a:solidFill>
                  <a:srgbClr val="172554"/>
                </a:solidFill>
                <a:latin typeface="Arial" pitchFamily="34" charset="0"/>
                <a:ea typeface="Arial" pitchFamily="34" charset="-122"/>
                <a:cs typeface="Arial" pitchFamily="34" charset="-120"/>
              </a:rPr>
              <a:t>previo detectado en las respuestas iniciales del alumnado.</a:t>
            </a:r>
            <a:endParaRPr lang="en-US" sz="1550" dirty="0"/>
          </a:p>
        </p:txBody>
      </p:sp>
      <p:sp>
        <p:nvSpPr>
          <p:cNvPr id="16" name="Shape 14"/>
          <p:cNvSpPr/>
          <p:nvPr/>
        </p:nvSpPr>
        <p:spPr>
          <a:xfrm>
            <a:off x="533400" y="4064000"/>
            <a:ext cx="6223000" cy="806450"/>
          </a:xfrm>
          <a:prstGeom prst="roundRect">
            <a:avLst/>
          </a:prstGeom>
          <a:solidFill>
            <a:srgbClr val="FFFFFF"/>
          </a:solidFill>
          <a:ln w="12700">
            <a:solidFill>
              <a:srgbClr val="FFFFFF"/>
            </a:solidFill>
            <a:prstDash val="solid"/>
          </a:ln>
        </p:spPr>
      </p:sp>
      <p:sp>
        <p:nvSpPr>
          <p:cNvPr id="17" name="Shape 15"/>
          <p:cNvSpPr/>
          <p:nvPr/>
        </p:nvSpPr>
        <p:spPr>
          <a:xfrm>
            <a:off x="533400" y="4064000"/>
            <a:ext cx="50800" cy="806450"/>
          </a:xfrm>
          <a:prstGeom prst="rect">
            <a:avLst/>
          </a:prstGeom>
          <a:solidFill>
            <a:srgbClr val="3B54DB"/>
          </a:solidFill>
          <a:ln w="12700">
            <a:solidFill>
              <a:srgbClr val="3B54DB"/>
            </a:solidFill>
            <a:prstDash val="solid"/>
          </a:ln>
        </p:spPr>
      </p:sp>
      <p:sp>
        <p:nvSpPr>
          <p:cNvPr id="18" name="Text 16"/>
          <p:cNvSpPr/>
          <p:nvPr/>
        </p:nvSpPr>
        <p:spPr>
          <a:xfrm>
            <a:off x="736600" y="424180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03</a:t>
            </a:r>
            <a:endParaRPr lang="en-US" sz="1300" dirty="0"/>
          </a:p>
        </p:txBody>
      </p:sp>
      <p:sp>
        <p:nvSpPr>
          <p:cNvPr id="19" name="Text 17"/>
          <p:cNvSpPr/>
          <p:nvPr/>
        </p:nvSpPr>
        <p:spPr>
          <a:xfrm>
            <a:off x="1231900" y="4229100"/>
            <a:ext cx="5308600" cy="527050"/>
          </a:xfrm>
          <a:prstGeom prst="rect">
            <a:avLst/>
          </a:prstGeom>
          <a:noFill/>
          <a:ln/>
        </p:spPr>
        <p:txBody>
          <a:bodyPr wrap="square" lIns="0" tIns="0" rIns="0" bIns="0" rtlCol="0" anchor="t"/>
          <a:lstStyle/>
          <a:p>
            <a:pPr indent="0" marL="0">
              <a:lnSpc>
                <a:spcPct val="123000"/>
              </a:lnSpc>
              <a:buNone/>
            </a:pPr>
            <a:r>
              <a:rPr lang="en-US" sz="1450" dirty="0">
                <a:solidFill>
                  <a:srgbClr val="172554"/>
                </a:solidFill>
                <a:latin typeface="Arial" pitchFamily="34" charset="0"/>
                <a:ea typeface="Arial" pitchFamily="34" charset="-122"/>
                <a:cs typeface="Arial" pitchFamily="34" charset="-120"/>
              </a:rPr>
              <a:t>Diseño de planes de estudio personalizados según los intereses</a:t>
            </a:r>
            <a:endParaRPr lang="en-US" sz="1450" dirty="0"/>
          </a:p>
          <a:p>
            <a:pPr indent="0" marL="0">
              <a:lnSpc>
                <a:spcPct val="123000"/>
              </a:lnSpc>
              <a:buNone/>
            </a:pPr>
            <a:r>
              <a:rPr lang="en-US" sz="1450" dirty="0">
                <a:solidFill>
                  <a:srgbClr val="172554"/>
                </a:solidFill>
                <a:latin typeface="Arial" pitchFamily="34" charset="0"/>
                <a:ea typeface="Arial" pitchFamily="34" charset="-122"/>
                <a:cs typeface="Arial" pitchFamily="34" charset="-120"/>
              </a:rPr>
              <a:t>detectados en las interacciones previas de los estudiantes.</a:t>
            </a:r>
            <a:endParaRPr lang="en-US" sz="1450" dirty="0"/>
          </a:p>
        </p:txBody>
      </p:sp>
      <p:sp>
        <p:nvSpPr>
          <p:cNvPr id="20" name="Shape 18"/>
          <p:cNvSpPr/>
          <p:nvPr/>
        </p:nvSpPr>
        <p:spPr>
          <a:xfrm>
            <a:off x="533400" y="5022850"/>
            <a:ext cx="6223000" cy="806450"/>
          </a:xfrm>
          <a:prstGeom prst="roundRect">
            <a:avLst/>
          </a:prstGeom>
          <a:solidFill>
            <a:srgbClr val="FFFFFF"/>
          </a:solidFill>
          <a:ln w="12700">
            <a:solidFill>
              <a:srgbClr val="FFFFFF"/>
            </a:solidFill>
            <a:prstDash val="solid"/>
          </a:ln>
        </p:spPr>
      </p:sp>
      <p:sp>
        <p:nvSpPr>
          <p:cNvPr id="21" name="Shape 19"/>
          <p:cNvSpPr/>
          <p:nvPr/>
        </p:nvSpPr>
        <p:spPr>
          <a:xfrm>
            <a:off x="533400" y="5022850"/>
            <a:ext cx="50800" cy="806450"/>
          </a:xfrm>
          <a:prstGeom prst="rect">
            <a:avLst/>
          </a:prstGeom>
          <a:solidFill>
            <a:srgbClr val="06B6D4"/>
          </a:solidFill>
          <a:ln w="12700">
            <a:solidFill>
              <a:srgbClr val="06B6D4"/>
            </a:solidFill>
            <a:prstDash val="solid"/>
          </a:ln>
        </p:spPr>
      </p:sp>
      <p:sp>
        <p:nvSpPr>
          <p:cNvPr id="22" name="Text 20"/>
          <p:cNvSpPr/>
          <p:nvPr/>
        </p:nvSpPr>
        <p:spPr>
          <a:xfrm>
            <a:off x="736600" y="520065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04</a:t>
            </a:r>
            <a:endParaRPr lang="en-US" sz="1300" dirty="0"/>
          </a:p>
        </p:txBody>
      </p:sp>
      <p:sp>
        <p:nvSpPr>
          <p:cNvPr id="23" name="Text 21"/>
          <p:cNvSpPr/>
          <p:nvPr/>
        </p:nvSpPr>
        <p:spPr>
          <a:xfrm>
            <a:off x="1231900" y="5187950"/>
            <a:ext cx="5308600" cy="527050"/>
          </a:xfrm>
          <a:prstGeom prst="rect">
            <a:avLst/>
          </a:prstGeom>
          <a:noFill/>
          <a:ln/>
        </p:spPr>
        <p:txBody>
          <a:bodyPr wrap="square" lIns="0" tIns="0" rIns="0" bIns="0" rtlCol="0" anchor="t"/>
          <a:lstStyle/>
          <a:p>
            <a:pPr indent="0" marL="0">
              <a:lnSpc>
                <a:spcPct val="123000"/>
              </a:lnSpc>
              <a:buNone/>
            </a:pPr>
            <a:r>
              <a:rPr lang="en-US" sz="1550" dirty="0">
                <a:solidFill>
                  <a:srgbClr val="172554"/>
                </a:solidFill>
                <a:latin typeface="Arial" pitchFamily="34" charset="0"/>
                <a:ea typeface="Arial" pitchFamily="34" charset="-122"/>
                <a:cs typeface="Arial" pitchFamily="34" charset="-120"/>
              </a:rPr>
              <a:t>¿Cómo podemos verificar que las sugerencias del algoritmo</a:t>
            </a:r>
            <a:endParaRPr lang="en-US" sz="1550" dirty="0"/>
          </a:p>
          <a:p>
            <a:pPr indent="0" marL="0">
              <a:lnSpc>
                <a:spcPct val="123000"/>
              </a:lnSpc>
              <a:buNone/>
            </a:pPr>
            <a:r>
              <a:rPr lang="en-US" sz="1550" dirty="0">
                <a:solidFill>
                  <a:srgbClr val="172554"/>
                </a:solidFill>
                <a:latin typeface="Arial" pitchFamily="34" charset="0"/>
                <a:ea typeface="Arial" pitchFamily="34" charset="-122"/>
                <a:cs typeface="Arial" pitchFamily="34" charset="-120"/>
              </a:rPr>
              <a:t>son pedagógicamente sólidas y libres de sesgos?</a:t>
            </a:r>
            <a:endParaRPr lang="en-US" sz="1550" dirty="0"/>
          </a:p>
        </p:txBody>
      </p:sp>
      <p:sp>
        <p:nvSpPr>
          <p:cNvPr id="24" name="Shape 22"/>
          <p:cNvSpPr/>
          <p:nvPr/>
        </p:nvSpPr>
        <p:spPr>
          <a:xfrm>
            <a:off x="7239000" y="2298700"/>
            <a:ext cx="4419600" cy="609600"/>
          </a:xfrm>
          <a:prstGeom prst="roundRect">
            <a:avLst/>
          </a:prstGeom>
          <a:solidFill>
            <a:srgbClr val="3B54DB"/>
          </a:solidFill>
          <a:ln w="12700">
            <a:solidFill>
              <a:srgbClr val="3B54DB"/>
            </a:solidFill>
            <a:prstDash val="solid"/>
          </a:ln>
        </p:spPr>
      </p:sp>
      <p:sp>
        <p:nvSpPr>
          <p:cNvPr id="25" name="Text 23"/>
          <p:cNvSpPr/>
          <p:nvPr/>
        </p:nvSpPr>
        <p:spPr>
          <a:xfrm>
            <a:off x="7467600" y="2400300"/>
            <a:ext cx="3962400" cy="457200"/>
          </a:xfrm>
          <a:prstGeom prst="rect">
            <a:avLst/>
          </a:prstGeom>
          <a:noFill/>
          <a:ln/>
        </p:spPr>
        <p:txBody>
          <a:bodyPr wrap="square" lIns="0" tIns="0" rIns="0" bIns="0" rtlCol="0" anchor="t"/>
          <a:lstStyle/>
          <a:p>
            <a:pPr indent="0" marL="0">
              <a:lnSpc>
                <a:spcPct val="123000"/>
              </a:lnSpc>
              <a:buNone/>
            </a:pPr>
            <a:r>
              <a:rPr lang="en-US" sz="1700" b="1" dirty="0">
                <a:solidFill>
                  <a:srgbClr val="FFFFFF"/>
                </a:solidFill>
                <a:latin typeface="Arial" pitchFamily="34" charset="0"/>
                <a:ea typeface="Arial" pitchFamily="34" charset="-122"/>
                <a:cs typeface="Arial" pitchFamily="34" charset="-120"/>
              </a:rPr>
              <a:t>1. Entrada de datos</a:t>
            </a:r>
            <a:endParaRPr lang="en-US" sz="1700" dirty="0"/>
          </a:p>
        </p:txBody>
      </p:sp>
      <p:sp>
        <p:nvSpPr>
          <p:cNvPr id="26" name="Shape 24"/>
          <p:cNvSpPr/>
          <p:nvPr/>
        </p:nvSpPr>
        <p:spPr>
          <a:xfrm>
            <a:off x="7239000" y="3022600"/>
            <a:ext cx="4419600" cy="609600"/>
          </a:xfrm>
          <a:prstGeom prst="roundRect">
            <a:avLst/>
          </a:prstGeom>
          <a:solidFill>
            <a:srgbClr val="E3E9FF"/>
          </a:solidFill>
          <a:ln w="12700">
            <a:solidFill>
              <a:srgbClr val="E3E9FF"/>
            </a:solidFill>
            <a:prstDash val="solid"/>
          </a:ln>
        </p:spPr>
      </p:sp>
      <p:sp>
        <p:nvSpPr>
          <p:cNvPr id="27" name="Text 25"/>
          <p:cNvSpPr/>
          <p:nvPr/>
        </p:nvSpPr>
        <p:spPr>
          <a:xfrm>
            <a:off x="7467600" y="3124200"/>
            <a:ext cx="3962400" cy="457200"/>
          </a:xfrm>
          <a:prstGeom prst="rect">
            <a:avLst/>
          </a:prstGeom>
          <a:noFill/>
          <a:ln/>
        </p:spPr>
        <p:txBody>
          <a:bodyPr wrap="square" lIns="0" tIns="0" rIns="0" bIns="0" rtlCol="0" anchor="t"/>
          <a:lstStyle/>
          <a:p>
            <a:pPr indent="0" marL="0">
              <a:lnSpc>
                <a:spcPct val="123000"/>
              </a:lnSpc>
              <a:buNone/>
            </a:pPr>
            <a:r>
              <a:rPr lang="en-US" sz="1700" b="1" dirty="0">
                <a:solidFill>
                  <a:srgbClr val="172554"/>
                </a:solidFill>
                <a:latin typeface="Arial" pitchFamily="34" charset="0"/>
                <a:ea typeface="Arial" pitchFamily="34" charset="-122"/>
                <a:cs typeface="Arial" pitchFamily="34" charset="-120"/>
              </a:rPr>
              <a:t>2. Procesamiento algorítmico</a:t>
            </a:r>
            <a:endParaRPr lang="en-US" sz="1700" dirty="0"/>
          </a:p>
        </p:txBody>
      </p:sp>
      <p:sp>
        <p:nvSpPr>
          <p:cNvPr id="28" name="Shape 26"/>
          <p:cNvSpPr/>
          <p:nvPr/>
        </p:nvSpPr>
        <p:spPr>
          <a:xfrm>
            <a:off x="7239000" y="3746500"/>
            <a:ext cx="4419600" cy="609600"/>
          </a:xfrm>
          <a:prstGeom prst="roundRect">
            <a:avLst/>
          </a:prstGeom>
          <a:solidFill>
            <a:srgbClr val="3B54DB"/>
          </a:solidFill>
          <a:ln w="12700">
            <a:solidFill>
              <a:srgbClr val="3B54DB"/>
            </a:solidFill>
            <a:prstDash val="solid"/>
          </a:ln>
        </p:spPr>
      </p:sp>
      <p:sp>
        <p:nvSpPr>
          <p:cNvPr id="29" name="Text 27"/>
          <p:cNvSpPr/>
          <p:nvPr/>
        </p:nvSpPr>
        <p:spPr>
          <a:xfrm>
            <a:off x="7467600" y="3848100"/>
            <a:ext cx="3962400" cy="457200"/>
          </a:xfrm>
          <a:prstGeom prst="rect">
            <a:avLst/>
          </a:prstGeom>
          <a:noFill/>
          <a:ln/>
        </p:spPr>
        <p:txBody>
          <a:bodyPr wrap="square" lIns="0" tIns="0" rIns="0" bIns="0" rtlCol="0" anchor="t"/>
          <a:lstStyle/>
          <a:p>
            <a:pPr indent="0" marL="0">
              <a:lnSpc>
                <a:spcPct val="123000"/>
              </a:lnSpc>
              <a:buNone/>
            </a:pPr>
            <a:r>
              <a:rPr lang="en-US" sz="1700" b="1" dirty="0">
                <a:solidFill>
                  <a:srgbClr val="FFFFFF"/>
                </a:solidFill>
                <a:latin typeface="Arial" pitchFamily="34" charset="0"/>
                <a:ea typeface="Arial" pitchFamily="34" charset="-122"/>
                <a:cs typeface="Arial" pitchFamily="34" charset="-120"/>
              </a:rPr>
              <a:t>3. Generación de propuesta</a:t>
            </a:r>
            <a:endParaRPr lang="en-US" sz="1700" dirty="0"/>
          </a:p>
        </p:txBody>
      </p:sp>
      <p:sp>
        <p:nvSpPr>
          <p:cNvPr id="30" name="Shape 28"/>
          <p:cNvSpPr/>
          <p:nvPr/>
        </p:nvSpPr>
        <p:spPr>
          <a:xfrm>
            <a:off x="7239000" y="4470400"/>
            <a:ext cx="4419600" cy="609600"/>
          </a:xfrm>
          <a:prstGeom prst="roundRect">
            <a:avLst/>
          </a:prstGeom>
          <a:solidFill>
            <a:srgbClr val="E3E9FF"/>
          </a:solidFill>
          <a:ln w="12700">
            <a:solidFill>
              <a:srgbClr val="E3E9FF"/>
            </a:solidFill>
            <a:prstDash val="solid"/>
          </a:ln>
        </p:spPr>
      </p:sp>
      <p:sp>
        <p:nvSpPr>
          <p:cNvPr id="31" name="Text 29"/>
          <p:cNvSpPr/>
          <p:nvPr/>
        </p:nvSpPr>
        <p:spPr>
          <a:xfrm>
            <a:off x="7467600" y="4572000"/>
            <a:ext cx="3962400" cy="457200"/>
          </a:xfrm>
          <a:prstGeom prst="rect">
            <a:avLst/>
          </a:prstGeom>
          <a:noFill/>
          <a:ln/>
        </p:spPr>
        <p:txBody>
          <a:bodyPr wrap="square" lIns="0" tIns="0" rIns="0" bIns="0" rtlCol="0" anchor="t"/>
          <a:lstStyle/>
          <a:p>
            <a:pPr indent="0" marL="0">
              <a:lnSpc>
                <a:spcPct val="123000"/>
              </a:lnSpc>
              <a:buNone/>
            </a:pPr>
            <a:r>
              <a:rPr lang="en-US" sz="1700" b="1" dirty="0">
                <a:solidFill>
                  <a:srgbClr val="172554"/>
                </a:solidFill>
                <a:latin typeface="Arial" pitchFamily="34" charset="0"/>
                <a:ea typeface="Arial" pitchFamily="34" charset="-122"/>
                <a:cs typeface="Arial" pitchFamily="34" charset="-120"/>
              </a:rPr>
              <a:t>4. Validación docente</a:t>
            </a:r>
            <a:endParaRPr lang="en-US" sz="1700" dirty="0"/>
          </a:p>
        </p:txBody>
      </p:sp>
      <p:sp>
        <p:nvSpPr>
          <p:cNvPr id="32" name="Shape 30"/>
          <p:cNvSpPr/>
          <p:nvPr/>
        </p:nvSpPr>
        <p:spPr>
          <a:xfrm>
            <a:off x="533400" y="6019800"/>
            <a:ext cx="11125200" cy="342900"/>
          </a:xfrm>
          <a:prstGeom prst="roundRect">
            <a:avLst/>
          </a:prstGeom>
          <a:solidFill>
            <a:srgbClr val="E3E9FF"/>
          </a:solidFill>
          <a:ln w="12700">
            <a:solidFill>
              <a:srgbClr val="E3E9FF"/>
            </a:solidFill>
            <a:prstDash val="solid"/>
          </a:ln>
        </p:spPr>
      </p:sp>
      <p:sp>
        <p:nvSpPr>
          <p:cNvPr id="33" name="Text 31"/>
          <p:cNvSpPr/>
          <p:nvPr/>
        </p:nvSpPr>
        <p:spPr>
          <a:xfrm>
            <a:off x="685800" y="6108700"/>
            <a:ext cx="10820400" cy="228600"/>
          </a:xfrm>
          <a:prstGeom prst="rect">
            <a:avLst/>
          </a:prstGeom>
          <a:noFill/>
          <a:ln/>
        </p:spPr>
        <p:txBody>
          <a:bodyPr wrap="square" lIns="0" tIns="0" rIns="0" bIns="0" rtlCol="0" anchor="t"/>
          <a:lstStyle/>
          <a:p>
            <a:pPr indent="0" marL="0">
              <a:lnSpc>
                <a:spcPct val="123000"/>
              </a:lnSpc>
              <a:buNone/>
            </a:pPr>
            <a:r>
              <a:rPr lang="en-US" sz="1100" b="1" dirty="0">
                <a:solidFill>
                  <a:srgbClr val="3B54DB"/>
                </a:solidFill>
                <a:latin typeface="Arial" pitchFamily="34" charset="0"/>
                <a:ea typeface="Arial" pitchFamily="34" charset="-122"/>
                <a:cs typeface="Arial" pitchFamily="34" charset="-120"/>
              </a:rPr>
              <a:t>Comprender el funcionamiento técnico ayuda a usar la IA con criterio crítico.</a:t>
            </a:r>
            <a:endParaRPr lang="en-US" sz="1100" dirty="0"/>
          </a:p>
        </p:txBody>
      </p:sp>
      <p:sp>
        <p:nvSpPr>
          <p:cNvPr id="34" name="Text 32"/>
          <p:cNvSpPr/>
          <p:nvPr/>
        </p:nvSpPr>
        <p:spPr>
          <a:xfrm>
            <a:off x="533400" y="6540500"/>
            <a:ext cx="8255000" cy="190500"/>
          </a:xfrm>
          <a:prstGeom prst="rect">
            <a:avLst/>
          </a:prstGeom>
          <a:noFill/>
          <a:ln/>
        </p:spPr>
        <p:txBody>
          <a:bodyPr wrap="square" lIns="0" tIns="0" rIns="0" bIns="0" rtlCol="0" anchor="t"/>
          <a:lstStyle/>
          <a:p>
            <a:pPr indent="0" marL="0">
              <a:lnSpc>
                <a:spcPct val="123000"/>
              </a:lnSpc>
              <a:buNone/>
            </a:pPr>
            <a:r>
              <a:rPr lang="en-US" sz="800" dirty="0">
                <a:solidFill>
                  <a:srgbClr val="172554"/>
                </a:solidFill>
                <a:latin typeface="Arial" pitchFamily="34" charset="0"/>
                <a:ea typeface="Arial" pitchFamily="34" charset="-122"/>
                <a:cs typeface="Arial" pitchFamily="34" charset="-120"/>
              </a:rPr>
              <a:t>Inteligencia Artificial en el Aula: Guía Práctica para Docentes</a:t>
            </a:r>
            <a:endParaRPr lang="en-US" sz="800" dirty="0"/>
          </a:p>
        </p:txBody>
      </p:sp>
      <p:sp>
        <p:nvSpPr>
          <p:cNvPr id="35" name="Text 33"/>
          <p:cNvSpPr/>
          <p:nvPr/>
        </p:nvSpPr>
        <p:spPr>
          <a:xfrm>
            <a:off x="10922000" y="6515100"/>
            <a:ext cx="736600" cy="228600"/>
          </a:xfrm>
          <a:prstGeom prst="rect">
            <a:avLst/>
          </a:prstGeom>
          <a:noFill/>
          <a:ln/>
        </p:spPr>
        <p:txBody>
          <a:bodyPr wrap="square" lIns="0" tIns="0" rIns="0" bIns="0" rtlCol="0" anchor="t"/>
          <a:lstStyle/>
          <a:p>
            <a:pPr indent="0" marL="0">
              <a:lnSpc>
                <a:spcPct val="123000"/>
              </a:lnSpc>
              <a:buNone/>
            </a:pPr>
            <a:r>
              <a:rPr lang="en-US" sz="900" b="1" dirty="0">
                <a:solidFill>
                  <a:srgbClr val="3B54DB"/>
                </a:solidFill>
                <a:latin typeface="Arial" pitchFamily="34" charset="0"/>
                <a:ea typeface="Arial" pitchFamily="34" charset="-122"/>
                <a:cs typeface="Arial" pitchFamily="34" charset="-120"/>
              </a:rPr>
              <a:t>2 / 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F"/>
        </a:solidFill>
      </p:bgPr>
    </p:bg>
    <p:spTree>
      <p:nvGrpSpPr>
        <p:cNvPr id="1" name=""/>
        <p:cNvGrpSpPr/>
        <p:nvPr/>
      </p:nvGrpSpPr>
      <p:grpSpPr>
        <a:xfrm>
          <a:off x="0" y="0"/>
          <a:ext cx="0" cy="0"/>
          <a:chOff x="0" y="0"/>
          <a:chExt cx="0" cy="0"/>
        </a:xfrm>
      </p:grpSpPr>
      <p:sp>
        <p:nvSpPr>
          <p:cNvPr id="2" name="Shape 0"/>
          <p:cNvSpPr/>
          <p:nvPr/>
        </p:nvSpPr>
        <p:spPr>
          <a:xfrm>
            <a:off x="0" y="0"/>
            <a:ext cx="12192000" cy="114300"/>
          </a:xfrm>
          <a:prstGeom prst="rect">
            <a:avLst/>
          </a:prstGeom>
          <a:solidFill>
            <a:srgbClr val="3B54DB"/>
          </a:solidFill>
          <a:ln w="12700">
            <a:solidFill>
              <a:srgbClr val="3B54DB"/>
            </a:solidFill>
            <a:prstDash val="solid"/>
          </a:ln>
        </p:spPr>
      </p:sp>
      <p:sp>
        <p:nvSpPr>
          <p:cNvPr id="3" name="Shape 1"/>
          <p:cNvSpPr/>
          <p:nvPr/>
        </p:nvSpPr>
        <p:spPr>
          <a:xfrm>
            <a:off x="11366500" y="254000"/>
            <a:ext cx="1206500" cy="1206500"/>
          </a:xfrm>
          <a:prstGeom prst="ellipse">
            <a:avLst/>
          </a:prstGeom>
          <a:solidFill>
            <a:srgbClr val="E3E9FF"/>
          </a:solidFill>
          <a:ln w="12700">
            <a:solidFill>
              <a:srgbClr val="E3E9FF"/>
            </a:solidFill>
            <a:prstDash val="solid"/>
          </a:ln>
        </p:spPr>
      </p:sp>
      <p:sp>
        <p:nvSpPr>
          <p:cNvPr id="4" name="Shape 2"/>
          <p:cNvSpPr/>
          <p:nvPr/>
        </p:nvSpPr>
        <p:spPr>
          <a:xfrm>
            <a:off x="11722100" y="1016000"/>
            <a:ext cx="381000" cy="381000"/>
          </a:xfrm>
          <a:prstGeom prst="ellipse">
            <a:avLst/>
          </a:prstGeom>
          <a:solidFill>
            <a:srgbClr val="06B6D4"/>
          </a:solidFill>
          <a:ln w="12700">
            <a:solidFill>
              <a:srgbClr val="06B6D4"/>
            </a:solidFill>
            <a:prstDash val="solid"/>
          </a:ln>
        </p:spPr>
      </p:sp>
      <p:sp>
        <p:nvSpPr>
          <p:cNvPr id="5" name="Text 3"/>
          <p:cNvSpPr/>
          <p:nvPr/>
        </p:nvSpPr>
        <p:spPr>
          <a:xfrm>
            <a:off x="533400" y="368300"/>
            <a:ext cx="10668000" cy="254000"/>
          </a:xfrm>
          <a:prstGeom prst="rect">
            <a:avLst/>
          </a:prstGeom>
          <a:noFill/>
          <a:ln/>
        </p:spPr>
        <p:txBody>
          <a:bodyPr wrap="square" lIns="0" tIns="0" rIns="0" bIns="0" rtlCol="0" anchor="t"/>
          <a:lstStyle/>
          <a:p>
            <a:pPr indent="0" marL="0">
              <a:lnSpc>
                <a:spcPct val="123000"/>
              </a:lnSpc>
              <a:buNone/>
            </a:pPr>
            <a:r>
              <a:rPr lang="en-US" sz="1000" b="1" dirty="0">
                <a:solidFill>
                  <a:srgbClr val="3B54DB"/>
                </a:solidFill>
                <a:latin typeface="Arial" pitchFamily="34" charset="0"/>
                <a:ea typeface="Arial" pitchFamily="34" charset="-122"/>
                <a:cs typeface="Arial" pitchFamily="34" charset="-120"/>
              </a:rPr>
              <a:t>EXPLORA / 03</a:t>
            </a:r>
            <a:endParaRPr lang="en-US" sz="1000" dirty="0"/>
          </a:p>
        </p:txBody>
      </p:sp>
      <p:sp>
        <p:nvSpPr>
          <p:cNvPr id="6" name="Text 4"/>
          <p:cNvSpPr/>
          <p:nvPr/>
        </p:nvSpPr>
        <p:spPr>
          <a:xfrm>
            <a:off x="533400" y="787400"/>
            <a:ext cx="10668000" cy="838200"/>
          </a:xfrm>
          <a:prstGeom prst="rect">
            <a:avLst/>
          </a:prstGeom>
          <a:noFill/>
          <a:ln/>
        </p:spPr>
        <p:txBody>
          <a:bodyPr wrap="square" lIns="0" tIns="0" rIns="0" bIns="0" rtlCol="0" anchor="t"/>
          <a:lstStyle/>
          <a:p>
            <a:pPr indent="0" marL="0">
              <a:lnSpc>
                <a:spcPct val="123000"/>
              </a:lnSpc>
              <a:buNone/>
            </a:pPr>
            <a:r>
              <a:rPr lang="en-US" sz="3100" b="1" dirty="0">
                <a:solidFill>
                  <a:srgbClr val="172554"/>
                </a:solidFill>
                <a:latin typeface="Arial" pitchFamily="34" charset="0"/>
                <a:ea typeface="Arial" pitchFamily="34" charset="-122"/>
                <a:cs typeface="Arial" pitchFamily="34" charset="-120"/>
              </a:rPr>
              <a:t>Automatización de Tareas vs. Creatividad Docente</a:t>
            </a:r>
            <a:endParaRPr lang="en-US" sz="3100" dirty="0"/>
          </a:p>
        </p:txBody>
      </p:sp>
      <p:sp>
        <p:nvSpPr>
          <p:cNvPr id="7" name="Text 5"/>
          <p:cNvSpPr/>
          <p:nvPr/>
        </p:nvSpPr>
        <p:spPr>
          <a:xfrm>
            <a:off x="533400" y="1676400"/>
            <a:ext cx="10795000" cy="381000"/>
          </a:xfrm>
          <a:prstGeom prst="rect">
            <a:avLst/>
          </a:prstGeom>
          <a:noFill/>
          <a:ln/>
        </p:spPr>
        <p:txBody>
          <a:bodyPr wrap="square" lIns="0" tIns="0" rIns="0" bIns="0" rtlCol="0" anchor="t"/>
          <a:lstStyle/>
          <a:p>
            <a:pPr indent="0" marL="0">
              <a:lnSpc>
                <a:spcPct val="123000"/>
              </a:lnSpc>
              <a:buNone/>
            </a:pPr>
            <a:r>
              <a:rPr lang="en-US" sz="1300" dirty="0">
                <a:solidFill>
                  <a:srgbClr val="3B54DB"/>
                </a:solidFill>
                <a:latin typeface="Arial" pitchFamily="34" charset="0"/>
                <a:ea typeface="Arial" pitchFamily="34" charset="-122"/>
                <a:cs typeface="Arial" pitchFamily="34" charset="-120"/>
              </a:rPr>
              <a:t>Equilibrio entre eficiencia tecnológica y calidez humana</a:t>
            </a:r>
            <a:endParaRPr lang="en-US" sz="1300" dirty="0"/>
          </a:p>
        </p:txBody>
      </p:sp>
      <p:sp>
        <p:nvSpPr>
          <p:cNvPr id="8" name="Shape 6"/>
          <p:cNvSpPr/>
          <p:nvPr/>
        </p:nvSpPr>
        <p:spPr>
          <a:xfrm>
            <a:off x="533400" y="2146300"/>
            <a:ext cx="6223000" cy="806450"/>
          </a:xfrm>
          <a:prstGeom prst="roundRect">
            <a:avLst/>
          </a:prstGeom>
          <a:solidFill>
            <a:srgbClr val="FFFFFF"/>
          </a:solidFill>
          <a:ln w="12700">
            <a:solidFill>
              <a:srgbClr val="FFFFFF"/>
            </a:solidFill>
            <a:prstDash val="solid"/>
          </a:ln>
        </p:spPr>
      </p:sp>
      <p:sp>
        <p:nvSpPr>
          <p:cNvPr id="9" name="Shape 7"/>
          <p:cNvSpPr/>
          <p:nvPr/>
        </p:nvSpPr>
        <p:spPr>
          <a:xfrm>
            <a:off x="533400" y="2146300"/>
            <a:ext cx="50800" cy="806450"/>
          </a:xfrm>
          <a:prstGeom prst="rect">
            <a:avLst/>
          </a:prstGeom>
          <a:solidFill>
            <a:srgbClr val="3B54DB"/>
          </a:solidFill>
          <a:ln w="12700">
            <a:solidFill>
              <a:srgbClr val="3B54DB"/>
            </a:solidFill>
            <a:prstDash val="solid"/>
          </a:ln>
        </p:spPr>
      </p:sp>
      <p:sp>
        <p:nvSpPr>
          <p:cNvPr id="10" name="Text 8"/>
          <p:cNvSpPr/>
          <p:nvPr/>
        </p:nvSpPr>
        <p:spPr>
          <a:xfrm>
            <a:off x="736600" y="232410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01</a:t>
            </a:r>
            <a:endParaRPr lang="en-US" sz="1300" dirty="0"/>
          </a:p>
        </p:txBody>
      </p:sp>
      <p:sp>
        <p:nvSpPr>
          <p:cNvPr id="11" name="Text 9"/>
          <p:cNvSpPr/>
          <p:nvPr/>
        </p:nvSpPr>
        <p:spPr>
          <a:xfrm>
            <a:off x="1231900" y="2311400"/>
            <a:ext cx="5308600" cy="527050"/>
          </a:xfrm>
          <a:prstGeom prst="rect">
            <a:avLst/>
          </a:prstGeom>
          <a:noFill/>
          <a:ln/>
        </p:spPr>
        <p:txBody>
          <a:bodyPr wrap="square" lIns="0" tIns="0" rIns="0" bIns="0" rtlCol="0" anchor="t"/>
          <a:lstStyle/>
          <a:p>
            <a:pPr indent="0" marL="0">
              <a:lnSpc>
                <a:spcPct val="123000"/>
              </a:lnSpc>
              <a:buNone/>
            </a:pPr>
            <a:r>
              <a:rPr lang="en-US" sz="1450" dirty="0">
                <a:solidFill>
                  <a:srgbClr val="172554"/>
                </a:solidFill>
                <a:latin typeface="Arial" pitchFamily="34" charset="0"/>
                <a:ea typeface="Arial" pitchFamily="34" charset="-122"/>
                <a:cs typeface="Arial" pitchFamily="34" charset="-120"/>
              </a:rPr>
              <a:t>La IA reduce la carga administrativa automatizando la redacción</a:t>
            </a:r>
            <a:endParaRPr lang="en-US" sz="1450" dirty="0"/>
          </a:p>
          <a:p>
            <a:pPr indent="0" marL="0">
              <a:lnSpc>
                <a:spcPct val="123000"/>
              </a:lnSpc>
              <a:buNone/>
            </a:pPr>
            <a:r>
              <a:rPr lang="en-US" sz="1450" dirty="0">
                <a:solidFill>
                  <a:srgbClr val="172554"/>
                </a:solidFill>
                <a:latin typeface="Arial" pitchFamily="34" charset="0"/>
                <a:ea typeface="Arial" pitchFamily="34" charset="-122"/>
                <a:cs typeface="Arial" pitchFamily="34" charset="-120"/>
              </a:rPr>
              <a:t>de rúbricas, correos institucionales y borradores de temarios.</a:t>
            </a:r>
            <a:endParaRPr lang="en-US" sz="1450" dirty="0"/>
          </a:p>
        </p:txBody>
      </p:sp>
      <p:sp>
        <p:nvSpPr>
          <p:cNvPr id="12" name="Shape 10"/>
          <p:cNvSpPr/>
          <p:nvPr/>
        </p:nvSpPr>
        <p:spPr>
          <a:xfrm>
            <a:off x="533400" y="3105150"/>
            <a:ext cx="6223000" cy="806450"/>
          </a:xfrm>
          <a:prstGeom prst="roundRect">
            <a:avLst/>
          </a:prstGeom>
          <a:solidFill>
            <a:srgbClr val="FFFFFF"/>
          </a:solidFill>
          <a:ln w="12700">
            <a:solidFill>
              <a:srgbClr val="FFFFFF"/>
            </a:solidFill>
            <a:prstDash val="solid"/>
          </a:ln>
        </p:spPr>
      </p:sp>
      <p:sp>
        <p:nvSpPr>
          <p:cNvPr id="13" name="Shape 11"/>
          <p:cNvSpPr/>
          <p:nvPr/>
        </p:nvSpPr>
        <p:spPr>
          <a:xfrm>
            <a:off x="533400" y="3105150"/>
            <a:ext cx="50800" cy="806450"/>
          </a:xfrm>
          <a:prstGeom prst="rect">
            <a:avLst/>
          </a:prstGeom>
          <a:solidFill>
            <a:srgbClr val="06B6D4"/>
          </a:solidFill>
          <a:ln w="12700">
            <a:solidFill>
              <a:srgbClr val="06B6D4"/>
            </a:solidFill>
            <a:prstDash val="solid"/>
          </a:ln>
        </p:spPr>
      </p:sp>
      <p:sp>
        <p:nvSpPr>
          <p:cNvPr id="14" name="Text 12"/>
          <p:cNvSpPr/>
          <p:nvPr/>
        </p:nvSpPr>
        <p:spPr>
          <a:xfrm>
            <a:off x="736600" y="328295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02</a:t>
            </a:r>
            <a:endParaRPr lang="en-US" sz="1300" dirty="0"/>
          </a:p>
        </p:txBody>
      </p:sp>
      <p:sp>
        <p:nvSpPr>
          <p:cNvPr id="15" name="Text 13"/>
          <p:cNvSpPr/>
          <p:nvPr/>
        </p:nvSpPr>
        <p:spPr>
          <a:xfrm>
            <a:off x="1231900" y="3270250"/>
            <a:ext cx="5308600" cy="527050"/>
          </a:xfrm>
          <a:prstGeom prst="rect">
            <a:avLst/>
          </a:prstGeom>
          <a:noFill/>
          <a:ln/>
        </p:spPr>
        <p:txBody>
          <a:bodyPr wrap="square" lIns="0" tIns="0" rIns="0" bIns="0" rtlCol="0" anchor="t"/>
          <a:lstStyle/>
          <a:p>
            <a:pPr indent="0" marL="0">
              <a:lnSpc>
                <a:spcPct val="123000"/>
              </a:lnSpc>
              <a:buNone/>
            </a:pPr>
            <a:r>
              <a:rPr lang="en-US" sz="1350" dirty="0">
                <a:solidFill>
                  <a:srgbClr val="172554"/>
                </a:solidFill>
                <a:latin typeface="Arial" pitchFamily="34" charset="0"/>
                <a:ea typeface="Arial" pitchFamily="34" charset="-122"/>
                <a:cs typeface="Arial" pitchFamily="34" charset="-120"/>
              </a:rPr>
              <a:t>El docente redirige ese tiempo ahorrado hacia la mentoría individual,</a:t>
            </a:r>
            <a:endParaRPr lang="en-US" sz="1350" dirty="0"/>
          </a:p>
          <a:p>
            <a:pPr indent="0" marL="0">
              <a:lnSpc>
                <a:spcPct val="123000"/>
              </a:lnSpc>
              <a:buNone/>
            </a:pPr>
            <a:r>
              <a:rPr lang="en-US" sz="1350" dirty="0">
                <a:solidFill>
                  <a:srgbClr val="172554"/>
                </a:solidFill>
                <a:latin typeface="Arial" pitchFamily="34" charset="0"/>
                <a:ea typeface="Arial" pitchFamily="34" charset="-122"/>
                <a:cs typeface="Arial" pitchFamily="34" charset="-120"/>
              </a:rPr>
              <a:t>la empatía y el diseño de experiencias de aprendizaje profundas.</a:t>
            </a:r>
            <a:endParaRPr lang="en-US" sz="1350" dirty="0"/>
          </a:p>
        </p:txBody>
      </p:sp>
      <p:sp>
        <p:nvSpPr>
          <p:cNvPr id="16" name="Shape 14"/>
          <p:cNvSpPr/>
          <p:nvPr/>
        </p:nvSpPr>
        <p:spPr>
          <a:xfrm>
            <a:off x="533400" y="4064000"/>
            <a:ext cx="6223000" cy="806450"/>
          </a:xfrm>
          <a:prstGeom prst="roundRect">
            <a:avLst/>
          </a:prstGeom>
          <a:solidFill>
            <a:srgbClr val="FFFFFF"/>
          </a:solidFill>
          <a:ln w="12700">
            <a:solidFill>
              <a:srgbClr val="FFFFFF"/>
            </a:solidFill>
            <a:prstDash val="solid"/>
          </a:ln>
        </p:spPr>
      </p:sp>
      <p:sp>
        <p:nvSpPr>
          <p:cNvPr id="17" name="Shape 15"/>
          <p:cNvSpPr/>
          <p:nvPr/>
        </p:nvSpPr>
        <p:spPr>
          <a:xfrm>
            <a:off x="533400" y="4064000"/>
            <a:ext cx="50800" cy="806450"/>
          </a:xfrm>
          <a:prstGeom prst="rect">
            <a:avLst/>
          </a:prstGeom>
          <a:solidFill>
            <a:srgbClr val="3B54DB"/>
          </a:solidFill>
          <a:ln w="12700">
            <a:solidFill>
              <a:srgbClr val="3B54DB"/>
            </a:solidFill>
            <a:prstDash val="solid"/>
          </a:ln>
        </p:spPr>
      </p:sp>
      <p:sp>
        <p:nvSpPr>
          <p:cNvPr id="18" name="Text 16"/>
          <p:cNvSpPr/>
          <p:nvPr/>
        </p:nvSpPr>
        <p:spPr>
          <a:xfrm>
            <a:off x="736600" y="424180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03</a:t>
            </a:r>
            <a:endParaRPr lang="en-US" sz="1300" dirty="0"/>
          </a:p>
        </p:txBody>
      </p:sp>
      <p:sp>
        <p:nvSpPr>
          <p:cNvPr id="19" name="Text 17"/>
          <p:cNvSpPr/>
          <p:nvPr/>
        </p:nvSpPr>
        <p:spPr>
          <a:xfrm>
            <a:off x="1231900" y="4229100"/>
            <a:ext cx="5308600" cy="527050"/>
          </a:xfrm>
          <a:prstGeom prst="rect">
            <a:avLst/>
          </a:prstGeom>
          <a:noFill/>
          <a:ln/>
        </p:spPr>
        <p:txBody>
          <a:bodyPr wrap="square" lIns="0" tIns="0" rIns="0" bIns="0" rtlCol="0" anchor="t"/>
          <a:lstStyle/>
          <a:p>
            <a:pPr indent="0" marL="0">
              <a:lnSpc>
                <a:spcPct val="123000"/>
              </a:lnSpc>
              <a:buNone/>
            </a:pPr>
            <a:r>
              <a:rPr lang="en-US" sz="1400" dirty="0">
                <a:solidFill>
                  <a:srgbClr val="172554"/>
                </a:solidFill>
                <a:latin typeface="Arial" pitchFamily="34" charset="0"/>
                <a:ea typeface="Arial" pitchFamily="34" charset="-122"/>
                <a:cs typeface="Arial" pitchFamily="34" charset="-120"/>
              </a:rPr>
              <a:t>Comparativa: Las tareas repetitivas se delegan en el algoritmo; el</a:t>
            </a:r>
            <a:endParaRPr lang="en-US" sz="1400" dirty="0"/>
          </a:p>
          <a:p>
            <a:pPr indent="0" marL="0">
              <a:lnSpc>
                <a:spcPct val="123000"/>
              </a:lnSpc>
              <a:buNone/>
            </a:pPr>
            <a:r>
              <a:rPr lang="en-US" sz="1400" dirty="0">
                <a:solidFill>
                  <a:srgbClr val="172554"/>
                </a:solidFill>
                <a:latin typeface="Arial" pitchFamily="34" charset="0"/>
                <a:ea typeface="Arial" pitchFamily="34" charset="-122"/>
                <a:cs typeface="Arial" pitchFamily="34" charset="-120"/>
              </a:rPr>
              <a:t>juicio crítico, la inspiración y la ética permanecen en el humano.</a:t>
            </a:r>
            <a:endParaRPr lang="en-US" sz="1400" dirty="0"/>
          </a:p>
        </p:txBody>
      </p:sp>
      <p:sp>
        <p:nvSpPr>
          <p:cNvPr id="20" name="Shape 18"/>
          <p:cNvSpPr/>
          <p:nvPr/>
        </p:nvSpPr>
        <p:spPr>
          <a:xfrm>
            <a:off x="533400" y="5022850"/>
            <a:ext cx="6223000" cy="806450"/>
          </a:xfrm>
          <a:prstGeom prst="roundRect">
            <a:avLst/>
          </a:prstGeom>
          <a:solidFill>
            <a:srgbClr val="FFFFFF"/>
          </a:solidFill>
          <a:ln w="12700">
            <a:solidFill>
              <a:srgbClr val="FFFFFF"/>
            </a:solidFill>
            <a:prstDash val="solid"/>
          </a:ln>
        </p:spPr>
      </p:sp>
      <p:sp>
        <p:nvSpPr>
          <p:cNvPr id="21" name="Shape 19"/>
          <p:cNvSpPr/>
          <p:nvPr/>
        </p:nvSpPr>
        <p:spPr>
          <a:xfrm>
            <a:off x="533400" y="5022850"/>
            <a:ext cx="50800" cy="806450"/>
          </a:xfrm>
          <a:prstGeom prst="rect">
            <a:avLst/>
          </a:prstGeom>
          <a:solidFill>
            <a:srgbClr val="06B6D4"/>
          </a:solidFill>
          <a:ln w="12700">
            <a:solidFill>
              <a:srgbClr val="06B6D4"/>
            </a:solidFill>
            <a:prstDash val="solid"/>
          </a:ln>
        </p:spPr>
      </p:sp>
      <p:sp>
        <p:nvSpPr>
          <p:cNvPr id="22" name="Text 20"/>
          <p:cNvSpPr/>
          <p:nvPr/>
        </p:nvSpPr>
        <p:spPr>
          <a:xfrm>
            <a:off x="736600" y="520065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04</a:t>
            </a:r>
            <a:endParaRPr lang="en-US" sz="1300" dirty="0"/>
          </a:p>
        </p:txBody>
      </p:sp>
      <p:sp>
        <p:nvSpPr>
          <p:cNvPr id="23" name="Text 21"/>
          <p:cNvSpPr/>
          <p:nvPr/>
        </p:nvSpPr>
        <p:spPr>
          <a:xfrm>
            <a:off x="1231900" y="5187950"/>
            <a:ext cx="5308600" cy="527050"/>
          </a:xfrm>
          <a:prstGeom prst="rect">
            <a:avLst/>
          </a:prstGeom>
          <a:noFill/>
          <a:ln/>
        </p:spPr>
        <p:txBody>
          <a:bodyPr wrap="square" lIns="0" tIns="0" rIns="0" bIns="0" rtlCol="0" anchor="t"/>
          <a:lstStyle/>
          <a:p>
            <a:pPr indent="0" marL="0">
              <a:lnSpc>
                <a:spcPct val="123000"/>
              </a:lnSpc>
              <a:buNone/>
            </a:pPr>
            <a:r>
              <a:rPr lang="en-US" sz="1500" dirty="0">
                <a:solidFill>
                  <a:srgbClr val="172554"/>
                </a:solidFill>
                <a:latin typeface="Arial" pitchFamily="34" charset="0"/>
                <a:ea typeface="Arial" pitchFamily="34" charset="-122"/>
                <a:cs typeface="Arial" pitchFamily="34" charset="-120"/>
              </a:rPr>
              <a:t>¿Qué tarea administrativa consume más tiempo en tu semana</a:t>
            </a:r>
            <a:endParaRPr lang="en-US" sz="1500" dirty="0"/>
          </a:p>
          <a:p>
            <a:pPr indent="0" marL="0">
              <a:lnSpc>
                <a:spcPct val="123000"/>
              </a:lnSpc>
              <a:buNone/>
            </a:pPr>
            <a:r>
              <a:rPr lang="en-US" sz="1500" dirty="0">
                <a:solidFill>
                  <a:srgbClr val="172554"/>
                </a:solidFill>
                <a:latin typeface="Arial" pitchFamily="34" charset="0"/>
                <a:ea typeface="Arial" pitchFamily="34" charset="-122"/>
                <a:cs typeface="Arial" pitchFamily="34" charset="-120"/>
              </a:rPr>
              <a:t>y cómo podría estructurarse un prompt inicial para delegarla?</a:t>
            </a:r>
            <a:endParaRPr lang="en-US" sz="1500" dirty="0"/>
          </a:p>
        </p:txBody>
      </p:sp>
      <p:sp>
        <p:nvSpPr>
          <p:cNvPr id="24" name="Shape 22"/>
          <p:cNvSpPr/>
          <p:nvPr/>
        </p:nvSpPr>
        <p:spPr>
          <a:xfrm>
            <a:off x="7137400" y="2197100"/>
            <a:ext cx="4419600" cy="3556000"/>
          </a:xfrm>
          <a:prstGeom prst="roundRect">
            <a:avLst/>
          </a:prstGeom>
          <a:solidFill>
            <a:srgbClr val="E3E9FF"/>
          </a:solidFill>
          <a:ln w="12700">
            <a:solidFill>
              <a:srgbClr val="E3E9FF"/>
            </a:solidFill>
            <a:prstDash val="solid"/>
          </a:ln>
        </p:spPr>
      </p:sp>
      <p:pic>
        <p:nvPicPr>
          <p:cNvPr id="25" name="Image 0" descr="Laptop computer.jpeg">    </p:cNvPr>
          <p:cNvPicPr>
            <a:picLocks noChangeAspect="1"/>
          </p:cNvPicPr>
          <p:nvPr/>
        </p:nvPicPr>
        <p:blipFill>
          <a:blip r:embed="rId1"/>
          <a:stretch>
            <a:fillRect/>
          </a:stretch>
        </p:blipFill>
        <p:spPr>
          <a:xfrm>
            <a:off x="7239000" y="2568931"/>
            <a:ext cx="4216400" cy="2812339"/>
          </a:xfrm>
          <a:prstGeom prst="rect">
            <a:avLst/>
          </a:prstGeom>
        </p:spPr>
      </p:pic>
      <p:sp>
        <p:nvSpPr>
          <p:cNvPr id="26" name="Shape 23"/>
          <p:cNvSpPr/>
          <p:nvPr/>
        </p:nvSpPr>
        <p:spPr>
          <a:xfrm>
            <a:off x="533400" y="6019800"/>
            <a:ext cx="11125200" cy="342900"/>
          </a:xfrm>
          <a:prstGeom prst="roundRect">
            <a:avLst/>
          </a:prstGeom>
          <a:solidFill>
            <a:srgbClr val="E3E9FF"/>
          </a:solidFill>
          <a:ln w="12700">
            <a:solidFill>
              <a:srgbClr val="E3E9FF"/>
            </a:solidFill>
            <a:prstDash val="solid"/>
          </a:ln>
        </p:spPr>
      </p:sp>
      <p:sp>
        <p:nvSpPr>
          <p:cNvPr id="27" name="Text 24"/>
          <p:cNvSpPr/>
          <p:nvPr/>
        </p:nvSpPr>
        <p:spPr>
          <a:xfrm>
            <a:off x="685800" y="6108700"/>
            <a:ext cx="10820400" cy="228600"/>
          </a:xfrm>
          <a:prstGeom prst="rect">
            <a:avLst/>
          </a:prstGeom>
          <a:noFill/>
          <a:ln/>
        </p:spPr>
        <p:txBody>
          <a:bodyPr wrap="square" lIns="0" tIns="0" rIns="0" bIns="0" rtlCol="0" anchor="t"/>
          <a:lstStyle/>
          <a:p>
            <a:pPr indent="0" marL="0">
              <a:lnSpc>
                <a:spcPct val="123000"/>
              </a:lnSpc>
              <a:buNone/>
            </a:pPr>
            <a:r>
              <a:rPr lang="en-US" sz="1100" b="1" dirty="0">
                <a:solidFill>
                  <a:srgbClr val="3B54DB"/>
                </a:solidFill>
                <a:latin typeface="Arial" pitchFamily="34" charset="0"/>
                <a:ea typeface="Arial" pitchFamily="34" charset="-122"/>
                <a:cs typeface="Arial" pitchFamily="34" charset="-120"/>
              </a:rPr>
              <a:t>Automatizar lo mecánico potencia el tiempo dedicado al vínculo pedagógico.</a:t>
            </a:r>
            <a:endParaRPr lang="en-US" sz="1100" dirty="0"/>
          </a:p>
        </p:txBody>
      </p:sp>
      <p:sp>
        <p:nvSpPr>
          <p:cNvPr id="28" name="Text 25"/>
          <p:cNvSpPr/>
          <p:nvPr/>
        </p:nvSpPr>
        <p:spPr>
          <a:xfrm>
            <a:off x="533400" y="6540500"/>
            <a:ext cx="8255000" cy="190500"/>
          </a:xfrm>
          <a:prstGeom prst="rect">
            <a:avLst/>
          </a:prstGeom>
          <a:noFill/>
          <a:ln/>
        </p:spPr>
        <p:txBody>
          <a:bodyPr wrap="square" lIns="0" tIns="0" rIns="0" bIns="0" rtlCol="0" anchor="t"/>
          <a:lstStyle/>
          <a:p>
            <a:pPr indent="0" marL="0">
              <a:lnSpc>
                <a:spcPct val="123000"/>
              </a:lnSpc>
              <a:buNone/>
            </a:pPr>
            <a:r>
              <a:rPr lang="en-US" sz="800" dirty="0">
                <a:solidFill>
                  <a:srgbClr val="172554"/>
                </a:solidFill>
                <a:latin typeface="Arial" pitchFamily="34" charset="0"/>
                <a:ea typeface="Arial" pitchFamily="34" charset="-122"/>
                <a:cs typeface="Arial" pitchFamily="34" charset="-120"/>
              </a:rPr>
              <a:t>Inteligencia Artificial en el Aula: Guía Práctica para Docentes</a:t>
            </a:r>
            <a:endParaRPr lang="en-US" sz="800" dirty="0"/>
          </a:p>
        </p:txBody>
      </p:sp>
      <p:sp>
        <p:nvSpPr>
          <p:cNvPr id="29" name="Text 26"/>
          <p:cNvSpPr/>
          <p:nvPr/>
        </p:nvSpPr>
        <p:spPr>
          <a:xfrm>
            <a:off x="10922000" y="6515100"/>
            <a:ext cx="736600" cy="228600"/>
          </a:xfrm>
          <a:prstGeom prst="rect">
            <a:avLst/>
          </a:prstGeom>
          <a:noFill/>
          <a:ln/>
        </p:spPr>
        <p:txBody>
          <a:bodyPr wrap="square" lIns="0" tIns="0" rIns="0" bIns="0" rtlCol="0" anchor="t"/>
          <a:lstStyle/>
          <a:p>
            <a:pPr indent="0" marL="0">
              <a:lnSpc>
                <a:spcPct val="123000"/>
              </a:lnSpc>
              <a:buNone/>
            </a:pPr>
            <a:r>
              <a:rPr lang="en-US" sz="900" b="1" dirty="0">
                <a:solidFill>
                  <a:srgbClr val="3B54DB"/>
                </a:solidFill>
                <a:latin typeface="Arial" pitchFamily="34" charset="0"/>
                <a:ea typeface="Arial" pitchFamily="34" charset="-122"/>
                <a:cs typeface="Arial" pitchFamily="34" charset="-120"/>
              </a:rPr>
              <a:t>3 / 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F"/>
        </a:solidFill>
      </p:bgPr>
    </p:bg>
    <p:spTree>
      <p:nvGrpSpPr>
        <p:cNvPr id="1" name=""/>
        <p:cNvGrpSpPr/>
        <p:nvPr/>
      </p:nvGrpSpPr>
      <p:grpSpPr>
        <a:xfrm>
          <a:off x="0" y="0"/>
          <a:ext cx="0" cy="0"/>
          <a:chOff x="0" y="0"/>
          <a:chExt cx="0" cy="0"/>
        </a:xfrm>
      </p:grpSpPr>
      <p:sp>
        <p:nvSpPr>
          <p:cNvPr id="2" name="Shape 0"/>
          <p:cNvSpPr/>
          <p:nvPr/>
        </p:nvSpPr>
        <p:spPr>
          <a:xfrm>
            <a:off x="0" y="0"/>
            <a:ext cx="12192000" cy="114300"/>
          </a:xfrm>
          <a:prstGeom prst="rect">
            <a:avLst/>
          </a:prstGeom>
          <a:solidFill>
            <a:srgbClr val="3B54DB"/>
          </a:solidFill>
          <a:ln w="12700">
            <a:solidFill>
              <a:srgbClr val="3B54DB"/>
            </a:solidFill>
            <a:prstDash val="solid"/>
          </a:ln>
        </p:spPr>
      </p:sp>
      <p:sp>
        <p:nvSpPr>
          <p:cNvPr id="3" name="Shape 1"/>
          <p:cNvSpPr/>
          <p:nvPr/>
        </p:nvSpPr>
        <p:spPr>
          <a:xfrm>
            <a:off x="11366500" y="254000"/>
            <a:ext cx="1206500" cy="1206500"/>
          </a:xfrm>
          <a:prstGeom prst="ellipse">
            <a:avLst/>
          </a:prstGeom>
          <a:solidFill>
            <a:srgbClr val="E3E9FF"/>
          </a:solidFill>
          <a:ln w="12700">
            <a:solidFill>
              <a:srgbClr val="E3E9FF"/>
            </a:solidFill>
            <a:prstDash val="solid"/>
          </a:ln>
        </p:spPr>
      </p:sp>
      <p:sp>
        <p:nvSpPr>
          <p:cNvPr id="4" name="Shape 2"/>
          <p:cNvSpPr/>
          <p:nvPr/>
        </p:nvSpPr>
        <p:spPr>
          <a:xfrm>
            <a:off x="11722100" y="1016000"/>
            <a:ext cx="381000" cy="381000"/>
          </a:xfrm>
          <a:prstGeom prst="ellipse">
            <a:avLst/>
          </a:prstGeom>
          <a:solidFill>
            <a:srgbClr val="06B6D4"/>
          </a:solidFill>
          <a:ln w="12700">
            <a:solidFill>
              <a:srgbClr val="06B6D4"/>
            </a:solidFill>
            <a:prstDash val="solid"/>
          </a:ln>
        </p:spPr>
      </p:sp>
      <p:sp>
        <p:nvSpPr>
          <p:cNvPr id="5" name="Text 3"/>
          <p:cNvSpPr/>
          <p:nvPr/>
        </p:nvSpPr>
        <p:spPr>
          <a:xfrm>
            <a:off x="533400" y="368300"/>
            <a:ext cx="10668000" cy="254000"/>
          </a:xfrm>
          <a:prstGeom prst="rect">
            <a:avLst/>
          </a:prstGeom>
          <a:noFill/>
          <a:ln/>
        </p:spPr>
        <p:txBody>
          <a:bodyPr wrap="square" lIns="0" tIns="0" rIns="0" bIns="0" rtlCol="0" anchor="t"/>
          <a:lstStyle/>
          <a:p>
            <a:pPr indent="0" marL="0">
              <a:lnSpc>
                <a:spcPct val="123000"/>
              </a:lnSpc>
              <a:buNone/>
            </a:pPr>
            <a:r>
              <a:rPr lang="en-US" sz="1000" b="1" dirty="0">
                <a:solidFill>
                  <a:srgbClr val="3B54DB"/>
                </a:solidFill>
                <a:latin typeface="Arial" pitchFamily="34" charset="0"/>
                <a:ea typeface="Arial" pitchFamily="34" charset="-122"/>
                <a:cs typeface="Arial" pitchFamily="34" charset="-120"/>
              </a:rPr>
              <a:t>EXPLORA / 04</a:t>
            </a:r>
            <a:endParaRPr lang="en-US" sz="1000" dirty="0"/>
          </a:p>
        </p:txBody>
      </p:sp>
      <p:sp>
        <p:nvSpPr>
          <p:cNvPr id="6" name="Text 4"/>
          <p:cNvSpPr/>
          <p:nvPr/>
        </p:nvSpPr>
        <p:spPr>
          <a:xfrm>
            <a:off x="533400" y="787400"/>
            <a:ext cx="10668000" cy="838200"/>
          </a:xfrm>
          <a:prstGeom prst="rect">
            <a:avLst/>
          </a:prstGeom>
          <a:noFill/>
          <a:ln/>
        </p:spPr>
        <p:txBody>
          <a:bodyPr wrap="square" lIns="0" tIns="0" rIns="0" bIns="0" rtlCol="0" anchor="t"/>
          <a:lstStyle/>
          <a:p>
            <a:pPr indent="0" marL="0">
              <a:lnSpc>
                <a:spcPct val="123000"/>
              </a:lnSpc>
              <a:buNone/>
            </a:pPr>
            <a:r>
              <a:rPr lang="en-US" sz="3100" b="1" dirty="0">
                <a:solidFill>
                  <a:srgbClr val="172554"/>
                </a:solidFill>
                <a:latin typeface="Arial" pitchFamily="34" charset="0"/>
                <a:ea typeface="Arial" pitchFamily="34" charset="-122"/>
                <a:cs typeface="Arial" pitchFamily="34" charset="-120"/>
              </a:rPr>
              <a:t>Diseño de Prompts Efectivos para el Aula</a:t>
            </a:r>
            <a:endParaRPr lang="en-US" sz="3100" dirty="0"/>
          </a:p>
        </p:txBody>
      </p:sp>
      <p:sp>
        <p:nvSpPr>
          <p:cNvPr id="7" name="Text 5"/>
          <p:cNvSpPr/>
          <p:nvPr/>
        </p:nvSpPr>
        <p:spPr>
          <a:xfrm>
            <a:off x="533400" y="1676400"/>
            <a:ext cx="10795000" cy="381000"/>
          </a:xfrm>
          <a:prstGeom prst="rect">
            <a:avLst/>
          </a:prstGeom>
          <a:noFill/>
          <a:ln/>
        </p:spPr>
        <p:txBody>
          <a:bodyPr wrap="square" lIns="0" tIns="0" rIns="0" bIns="0" rtlCol="0" anchor="t"/>
          <a:lstStyle/>
          <a:p>
            <a:pPr indent="0" marL="0">
              <a:lnSpc>
                <a:spcPct val="123000"/>
              </a:lnSpc>
              <a:buNone/>
            </a:pPr>
            <a:r>
              <a:rPr lang="en-US" sz="1300" dirty="0">
                <a:solidFill>
                  <a:srgbClr val="3B54DB"/>
                </a:solidFill>
                <a:latin typeface="Arial" pitchFamily="34" charset="0"/>
                <a:ea typeface="Arial" pitchFamily="34" charset="-122"/>
                <a:cs typeface="Arial" pitchFamily="34" charset="-120"/>
              </a:rPr>
              <a:t>El arte de dialogar correctamente con los modelos de lenguaje</a:t>
            </a:r>
            <a:endParaRPr lang="en-US" sz="1300" dirty="0"/>
          </a:p>
        </p:txBody>
      </p:sp>
      <p:sp>
        <p:nvSpPr>
          <p:cNvPr id="8" name="Shape 6"/>
          <p:cNvSpPr/>
          <p:nvPr/>
        </p:nvSpPr>
        <p:spPr>
          <a:xfrm>
            <a:off x="533400" y="2146300"/>
            <a:ext cx="6223000" cy="806450"/>
          </a:xfrm>
          <a:prstGeom prst="roundRect">
            <a:avLst/>
          </a:prstGeom>
          <a:solidFill>
            <a:srgbClr val="FFFFFF"/>
          </a:solidFill>
          <a:ln w="12700">
            <a:solidFill>
              <a:srgbClr val="FFFFFF"/>
            </a:solidFill>
            <a:prstDash val="solid"/>
          </a:ln>
        </p:spPr>
      </p:sp>
      <p:sp>
        <p:nvSpPr>
          <p:cNvPr id="9" name="Shape 7"/>
          <p:cNvSpPr/>
          <p:nvPr/>
        </p:nvSpPr>
        <p:spPr>
          <a:xfrm>
            <a:off x="533400" y="2146300"/>
            <a:ext cx="50800" cy="806450"/>
          </a:xfrm>
          <a:prstGeom prst="rect">
            <a:avLst/>
          </a:prstGeom>
          <a:solidFill>
            <a:srgbClr val="3B54DB"/>
          </a:solidFill>
          <a:ln w="12700">
            <a:solidFill>
              <a:srgbClr val="3B54DB"/>
            </a:solidFill>
            <a:prstDash val="solid"/>
          </a:ln>
        </p:spPr>
      </p:sp>
      <p:sp>
        <p:nvSpPr>
          <p:cNvPr id="10" name="Text 8"/>
          <p:cNvSpPr/>
          <p:nvPr/>
        </p:nvSpPr>
        <p:spPr>
          <a:xfrm>
            <a:off x="736600" y="232410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01</a:t>
            </a:r>
            <a:endParaRPr lang="en-US" sz="1300" dirty="0"/>
          </a:p>
        </p:txBody>
      </p:sp>
      <p:sp>
        <p:nvSpPr>
          <p:cNvPr id="11" name="Text 9"/>
          <p:cNvSpPr/>
          <p:nvPr/>
        </p:nvSpPr>
        <p:spPr>
          <a:xfrm>
            <a:off x="1231900" y="2311400"/>
            <a:ext cx="5308600" cy="527050"/>
          </a:xfrm>
          <a:prstGeom prst="rect">
            <a:avLst/>
          </a:prstGeom>
          <a:noFill/>
          <a:ln/>
        </p:spPr>
        <p:txBody>
          <a:bodyPr wrap="square" lIns="0" tIns="0" rIns="0" bIns="0" rtlCol="0" anchor="t"/>
          <a:lstStyle/>
          <a:p>
            <a:pPr indent="0" marL="0">
              <a:lnSpc>
                <a:spcPct val="123000"/>
              </a:lnSpc>
              <a:buNone/>
            </a:pPr>
            <a:r>
              <a:rPr lang="en-US" sz="1350" dirty="0">
                <a:solidFill>
                  <a:srgbClr val="172554"/>
                </a:solidFill>
                <a:latin typeface="Arial" pitchFamily="34" charset="0"/>
                <a:ea typeface="Arial" pitchFamily="34" charset="-122"/>
                <a:cs typeface="Arial" pitchFamily="34" charset="-120"/>
              </a:rPr>
              <a:t>Un buen comando (prompt) incluye rol específico, contexto detallado,</a:t>
            </a:r>
            <a:endParaRPr lang="en-US" sz="1350" dirty="0"/>
          </a:p>
          <a:p>
            <a:pPr indent="0" marL="0">
              <a:lnSpc>
                <a:spcPct val="123000"/>
              </a:lnSpc>
              <a:buNone/>
            </a:pPr>
            <a:r>
              <a:rPr lang="en-US" sz="1350" dirty="0">
                <a:solidFill>
                  <a:srgbClr val="172554"/>
                </a:solidFill>
                <a:latin typeface="Arial" pitchFamily="34" charset="0"/>
                <a:ea typeface="Arial" pitchFamily="34" charset="-122"/>
                <a:cs typeface="Arial" pitchFamily="34" charset="-120"/>
              </a:rPr>
              <a:t>formato de salida deseado y restricciones claras de tono.</a:t>
            </a:r>
            <a:endParaRPr lang="en-US" sz="1350" dirty="0"/>
          </a:p>
        </p:txBody>
      </p:sp>
      <p:sp>
        <p:nvSpPr>
          <p:cNvPr id="12" name="Shape 10"/>
          <p:cNvSpPr/>
          <p:nvPr/>
        </p:nvSpPr>
        <p:spPr>
          <a:xfrm>
            <a:off x="533400" y="3105150"/>
            <a:ext cx="6223000" cy="806450"/>
          </a:xfrm>
          <a:prstGeom prst="roundRect">
            <a:avLst/>
          </a:prstGeom>
          <a:solidFill>
            <a:srgbClr val="FFFFFF"/>
          </a:solidFill>
          <a:ln w="12700">
            <a:solidFill>
              <a:srgbClr val="FFFFFF"/>
            </a:solidFill>
            <a:prstDash val="solid"/>
          </a:ln>
        </p:spPr>
      </p:sp>
      <p:sp>
        <p:nvSpPr>
          <p:cNvPr id="13" name="Shape 11"/>
          <p:cNvSpPr/>
          <p:nvPr/>
        </p:nvSpPr>
        <p:spPr>
          <a:xfrm>
            <a:off x="533400" y="3105150"/>
            <a:ext cx="50800" cy="806450"/>
          </a:xfrm>
          <a:prstGeom prst="rect">
            <a:avLst/>
          </a:prstGeom>
          <a:solidFill>
            <a:srgbClr val="06B6D4"/>
          </a:solidFill>
          <a:ln w="12700">
            <a:solidFill>
              <a:srgbClr val="06B6D4"/>
            </a:solidFill>
            <a:prstDash val="solid"/>
          </a:ln>
        </p:spPr>
      </p:sp>
      <p:sp>
        <p:nvSpPr>
          <p:cNvPr id="14" name="Text 12"/>
          <p:cNvSpPr/>
          <p:nvPr/>
        </p:nvSpPr>
        <p:spPr>
          <a:xfrm>
            <a:off x="736600" y="328295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02</a:t>
            </a:r>
            <a:endParaRPr lang="en-US" sz="1300" dirty="0"/>
          </a:p>
        </p:txBody>
      </p:sp>
      <p:sp>
        <p:nvSpPr>
          <p:cNvPr id="15" name="Text 13"/>
          <p:cNvSpPr/>
          <p:nvPr/>
        </p:nvSpPr>
        <p:spPr>
          <a:xfrm>
            <a:off x="1231900" y="3270250"/>
            <a:ext cx="5308600" cy="527050"/>
          </a:xfrm>
          <a:prstGeom prst="rect">
            <a:avLst/>
          </a:prstGeom>
          <a:noFill/>
          <a:ln/>
        </p:spPr>
        <p:txBody>
          <a:bodyPr wrap="square" lIns="0" tIns="0" rIns="0" bIns="0" rtlCol="0" anchor="t"/>
          <a:lstStyle/>
          <a:p>
            <a:pPr indent="0" marL="0">
              <a:lnSpc>
                <a:spcPct val="123000"/>
              </a:lnSpc>
              <a:buNone/>
            </a:pPr>
            <a:r>
              <a:rPr lang="en-US" sz="1200" dirty="0">
                <a:solidFill>
                  <a:srgbClr val="172554"/>
                </a:solidFill>
                <a:latin typeface="Arial" pitchFamily="34" charset="0"/>
                <a:ea typeface="Arial" pitchFamily="34" charset="-122"/>
                <a:cs typeface="Arial" pitchFamily="34" charset="-120"/>
              </a:rPr>
              <a:t>Ejemplo: 'Actúa como profesor de historia, redacta una explicación sobre la</a:t>
            </a:r>
            <a:endParaRPr lang="en-US" sz="1200" dirty="0"/>
          </a:p>
          <a:p>
            <a:pPr indent="0" marL="0">
              <a:lnSpc>
                <a:spcPct val="123000"/>
              </a:lnSpc>
              <a:buNone/>
            </a:pPr>
            <a:r>
              <a:rPr lang="en-US" sz="1200" dirty="0">
                <a:solidFill>
                  <a:srgbClr val="172554"/>
                </a:solidFill>
                <a:latin typeface="Arial" pitchFamily="34" charset="0"/>
                <a:ea typeface="Arial" pitchFamily="34" charset="-122"/>
                <a:cs typeface="Arial" pitchFamily="34" charset="-120"/>
              </a:rPr>
              <a:t>Revolución Francesa para alumnos de 12 años usando analogías deportivas'.</a:t>
            </a:r>
            <a:endParaRPr lang="en-US" sz="1200" dirty="0"/>
          </a:p>
        </p:txBody>
      </p:sp>
      <p:sp>
        <p:nvSpPr>
          <p:cNvPr id="16" name="Shape 14"/>
          <p:cNvSpPr/>
          <p:nvPr/>
        </p:nvSpPr>
        <p:spPr>
          <a:xfrm>
            <a:off x="533400" y="4064000"/>
            <a:ext cx="6223000" cy="806450"/>
          </a:xfrm>
          <a:prstGeom prst="roundRect">
            <a:avLst/>
          </a:prstGeom>
          <a:solidFill>
            <a:srgbClr val="FFFFFF"/>
          </a:solidFill>
          <a:ln w="12700">
            <a:solidFill>
              <a:srgbClr val="FFFFFF"/>
            </a:solidFill>
            <a:prstDash val="solid"/>
          </a:ln>
        </p:spPr>
      </p:sp>
      <p:sp>
        <p:nvSpPr>
          <p:cNvPr id="17" name="Shape 15"/>
          <p:cNvSpPr/>
          <p:nvPr/>
        </p:nvSpPr>
        <p:spPr>
          <a:xfrm>
            <a:off x="533400" y="4064000"/>
            <a:ext cx="50800" cy="806450"/>
          </a:xfrm>
          <a:prstGeom prst="rect">
            <a:avLst/>
          </a:prstGeom>
          <a:solidFill>
            <a:srgbClr val="3B54DB"/>
          </a:solidFill>
          <a:ln w="12700">
            <a:solidFill>
              <a:srgbClr val="3B54DB"/>
            </a:solidFill>
            <a:prstDash val="solid"/>
          </a:ln>
        </p:spPr>
      </p:sp>
      <p:sp>
        <p:nvSpPr>
          <p:cNvPr id="18" name="Text 16"/>
          <p:cNvSpPr/>
          <p:nvPr/>
        </p:nvSpPr>
        <p:spPr>
          <a:xfrm>
            <a:off x="736600" y="424180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03</a:t>
            </a:r>
            <a:endParaRPr lang="en-US" sz="1300" dirty="0"/>
          </a:p>
        </p:txBody>
      </p:sp>
      <p:sp>
        <p:nvSpPr>
          <p:cNvPr id="19" name="Text 17"/>
          <p:cNvSpPr/>
          <p:nvPr/>
        </p:nvSpPr>
        <p:spPr>
          <a:xfrm>
            <a:off x="1231900" y="4229100"/>
            <a:ext cx="5308600" cy="527050"/>
          </a:xfrm>
          <a:prstGeom prst="rect">
            <a:avLst/>
          </a:prstGeom>
          <a:noFill/>
          <a:ln/>
        </p:spPr>
        <p:txBody>
          <a:bodyPr wrap="square" lIns="0" tIns="0" rIns="0" bIns="0" rtlCol="0" anchor="t"/>
          <a:lstStyle/>
          <a:p>
            <a:pPr indent="0" marL="0">
              <a:lnSpc>
                <a:spcPct val="123000"/>
              </a:lnSpc>
              <a:buNone/>
            </a:pPr>
            <a:r>
              <a:rPr lang="en-US" sz="1350" dirty="0">
                <a:solidFill>
                  <a:srgbClr val="172554"/>
                </a:solidFill>
                <a:latin typeface="Arial" pitchFamily="34" charset="0"/>
                <a:ea typeface="Arial" pitchFamily="34" charset="-122"/>
                <a:cs typeface="Arial" pitchFamily="34" charset="-120"/>
              </a:rPr>
              <a:t>Aplicación directa en la creación de materiales diferenciados para</a:t>
            </a:r>
            <a:endParaRPr lang="en-US" sz="1350" dirty="0"/>
          </a:p>
          <a:p>
            <a:pPr indent="0" marL="0">
              <a:lnSpc>
                <a:spcPct val="123000"/>
              </a:lnSpc>
              <a:buNone/>
            </a:pPr>
            <a:r>
              <a:rPr lang="en-US" sz="1350" dirty="0">
                <a:solidFill>
                  <a:srgbClr val="172554"/>
                </a:solidFill>
                <a:latin typeface="Arial" pitchFamily="34" charset="0"/>
                <a:ea typeface="Arial" pitchFamily="34" charset="-122"/>
                <a:cs typeface="Arial" pitchFamily="34" charset="-120"/>
              </a:rPr>
              <a:t>estudiantes con distintos ritmos de aprendizaje en la misma sesión.</a:t>
            </a:r>
            <a:endParaRPr lang="en-US" sz="1350" dirty="0"/>
          </a:p>
        </p:txBody>
      </p:sp>
      <p:sp>
        <p:nvSpPr>
          <p:cNvPr id="20" name="Shape 18"/>
          <p:cNvSpPr/>
          <p:nvPr/>
        </p:nvSpPr>
        <p:spPr>
          <a:xfrm>
            <a:off x="533400" y="5022850"/>
            <a:ext cx="6223000" cy="806450"/>
          </a:xfrm>
          <a:prstGeom prst="roundRect">
            <a:avLst/>
          </a:prstGeom>
          <a:solidFill>
            <a:srgbClr val="FFFFFF"/>
          </a:solidFill>
          <a:ln w="12700">
            <a:solidFill>
              <a:srgbClr val="FFFFFF"/>
            </a:solidFill>
            <a:prstDash val="solid"/>
          </a:ln>
        </p:spPr>
      </p:sp>
      <p:sp>
        <p:nvSpPr>
          <p:cNvPr id="21" name="Shape 19"/>
          <p:cNvSpPr/>
          <p:nvPr/>
        </p:nvSpPr>
        <p:spPr>
          <a:xfrm>
            <a:off x="533400" y="5022850"/>
            <a:ext cx="50800" cy="806450"/>
          </a:xfrm>
          <a:prstGeom prst="rect">
            <a:avLst/>
          </a:prstGeom>
          <a:solidFill>
            <a:srgbClr val="06B6D4"/>
          </a:solidFill>
          <a:ln w="12700">
            <a:solidFill>
              <a:srgbClr val="06B6D4"/>
            </a:solidFill>
            <a:prstDash val="solid"/>
          </a:ln>
        </p:spPr>
      </p:sp>
      <p:sp>
        <p:nvSpPr>
          <p:cNvPr id="22" name="Text 20"/>
          <p:cNvSpPr/>
          <p:nvPr/>
        </p:nvSpPr>
        <p:spPr>
          <a:xfrm>
            <a:off x="736600" y="520065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04</a:t>
            </a:r>
            <a:endParaRPr lang="en-US" sz="1300" dirty="0"/>
          </a:p>
        </p:txBody>
      </p:sp>
      <p:sp>
        <p:nvSpPr>
          <p:cNvPr id="23" name="Text 21"/>
          <p:cNvSpPr/>
          <p:nvPr/>
        </p:nvSpPr>
        <p:spPr>
          <a:xfrm>
            <a:off x="1231900" y="5187950"/>
            <a:ext cx="5308600" cy="527050"/>
          </a:xfrm>
          <a:prstGeom prst="rect">
            <a:avLst/>
          </a:prstGeom>
          <a:noFill/>
          <a:ln/>
        </p:spPr>
        <p:txBody>
          <a:bodyPr wrap="square" lIns="0" tIns="0" rIns="0" bIns="0" rtlCol="0" anchor="t"/>
          <a:lstStyle/>
          <a:p>
            <a:pPr indent="0" marL="0">
              <a:lnSpc>
                <a:spcPct val="123000"/>
              </a:lnSpc>
              <a:buNone/>
            </a:pPr>
            <a:r>
              <a:rPr lang="en-US" sz="1450" dirty="0">
                <a:solidFill>
                  <a:srgbClr val="172554"/>
                </a:solidFill>
                <a:latin typeface="Arial" pitchFamily="34" charset="0"/>
                <a:ea typeface="Arial" pitchFamily="34" charset="-122"/>
                <a:cs typeface="Arial" pitchFamily="34" charset="-120"/>
              </a:rPr>
              <a:t>¿Qué elementos consideras imprescindibles al redactar una</a:t>
            </a:r>
            <a:endParaRPr lang="en-US" sz="1450" dirty="0"/>
          </a:p>
          <a:p>
            <a:pPr indent="0" marL="0">
              <a:lnSpc>
                <a:spcPct val="123000"/>
              </a:lnSpc>
              <a:buNone/>
            </a:pPr>
            <a:r>
              <a:rPr lang="en-US" sz="1450" dirty="0">
                <a:solidFill>
                  <a:srgbClr val="172554"/>
                </a:solidFill>
                <a:latin typeface="Arial" pitchFamily="34" charset="0"/>
                <a:ea typeface="Arial" pitchFamily="34" charset="-122"/>
                <a:cs typeface="Arial" pitchFamily="34" charset="-120"/>
              </a:rPr>
              <a:t>instrucción para asegurar que el resultado se ajuste a tu grupo?</a:t>
            </a:r>
            <a:endParaRPr lang="en-US" sz="1450" dirty="0"/>
          </a:p>
        </p:txBody>
      </p:sp>
      <p:sp>
        <p:nvSpPr>
          <p:cNvPr id="24" name="Shape 22"/>
          <p:cNvSpPr/>
          <p:nvPr/>
        </p:nvSpPr>
        <p:spPr>
          <a:xfrm>
            <a:off x="7239000" y="2298700"/>
            <a:ext cx="4419600" cy="609600"/>
          </a:xfrm>
          <a:prstGeom prst="roundRect">
            <a:avLst/>
          </a:prstGeom>
          <a:solidFill>
            <a:srgbClr val="3B54DB"/>
          </a:solidFill>
          <a:ln w="12700">
            <a:solidFill>
              <a:srgbClr val="3B54DB"/>
            </a:solidFill>
            <a:prstDash val="solid"/>
          </a:ln>
        </p:spPr>
      </p:sp>
      <p:sp>
        <p:nvSpPr>
          <p:cNvPr id="25" name="Text 23"/>
          <p:cNvSpPr/>
          <p:nvPr/>
        </p:nvSpPr>
        <p:spPr>
          <a:xfrm>
            <a:off x="7467600" y="2400300"/>
            <a:ext cx="3962400" cy="457200"/>
          </a:xfrm>
          <a:prstGeom prst="rect">
            <a:avLst/>
          </a:prstGeom>
          <a:noFill/>
          <a:ln/>
        </p:spPr>
        <p:txBody>
          <a:bodyPr wrap="square" lIns="0" tIns="0" rIns="0" bIns="0" rtlCol="0" anchor="t"/>
          <a:lstStyle/>
          <a:p>
            <a:pPr indent="0" marL="0">
              <a:lnSpc>
                <a:spcPct val="123000"/>
              </a:lnSpc>
              <a:buNone/>
            </a:pPr>
            <a:r>
              <a:rPr lang="en-US" sz="1700" b="1" dirty="0">
                <a:solidFill>
                  <a:srgbClr val="FFFFFF"/>
                </a:solidFill>
                <a:latin typeface="Arial" pitchFamily="34" charset="0"/>
                <a:ea typeface="Arial" pitchFamily="34" charset="-122"/>
                <a:cs typeface="Arial" pitchFamily="34" charset="-120"/>
              </a:rPr>
              <a:t>Definir Rol</a:t>
            </a:r>
            <a:endParaRPr lang="en-US" sz="1700" dirty="0"/>
          </a:p>
        </p:txBody>
      </p:sp>
      <p:sp>
        <p:nvSpPr>
          <p:cNvPr id="26" name="Shape 24"/>
          <p:cNvSpPr/>
          <p:nvPr/>
        </p:nvSpPr>
        <p:spPr>
          <a:xfrm>
            <a:off x="7239000" y="3022600"/>
            <a:ext cx="4419600" cy="609600"/>
          </a:xfrm>
          <a:prstGeom prst="roundRect">
            <a:avLst/>
          </a:prstGeom>
          <a:solidFill>
            <a:srgbClr val="E3E9FF"/>
          </a:solidFill>
          <a:ln w="12700">
            <a:solidFill>
              <a:srgbClr val="E3E9FF"/>
            </a:solidFill>
            <a:prstDash val="solid"/>
          </a:ln>
        </p:spPr>
      </p:sp>
      <p:sp>
        <p:nvSpPr>
          <p:cNvPr id="27" name="Text 25"/>
          <p:cNvSpPr/>
          <p:nvPr/>
        </p:nvSpPr>
        <p:spPr>
          <a:xfrm>
            <a:off x="7467600" y="3124200"/>
            <a:ext cx="3962400" cy="457200"/>
          </a:xfrm>
          <a:prstGeom prst="rect">
            <a:avLst/>
          </a:prstGeom>
          <a:noFill/>
          <a:ln/>
        </p:spPr>
        <p:txBody>
          <a:bodyPr wrap="square" lIns="0" tIns="0" rIns="0" bIns="0" rtlCol="0" anchor="t"/>
          <a:lstStyle/>
          <a:p>
            <a:pPr indent="0" marL="0">
              <a:lnSpc>
                <a:spcPct val="123000"/>
              </a:lnSpc>
              <a:buNone/>
            </a:pPr>
            <a:r>
              <a:rPr lang="en-US" sz="1700" b="1" dirty="0">
                <a:solidFill>
                  <a:srgbClr val="172554"/>
                </a:solidFill>
                <a:latin typeface="Arial" pitchFamily="34" charset="0"/>
                <a:ea typeface="Arial" pitchFamily="34" charset="-122"/>
                <a:cs typeface="Arial" pitchFamily="34" charset="-120"/>
              </a:rPr>
              <a:t>Aportar Contexto</a:t>
            </a:r>
            <a:endParaRPr lang="en-US" sz="1700" dirty="0"/>
          </a:p>
        </p:txBody>
      </p:sp>
      <p:sp>
        <p:nvSpPr>
          <p:cNvPr id="28" name="Shape 26"/>
          <p:cNvSpPr/>
          <p:nvPr/>
        </p:nvSpPr>
        <p:spPr>
          <a:xfrm>
            <a:off x="7239000" y="3746500"/>
            <a:ext cx="4419600" cy="609600"/>
          </a:xfrm>
          <a:prstGeom prst="roundRect">
            <a:avLst/>
          </a:prstGeom>
          <a:solidFill>
            <a:srgbClr val="3B54DB"/>
          </a:solidFill>
          <a:ln w="12700">
            <a:solidFill>
              <a:srgbClr val="3B54DB"/>
            </a:solidFill>
            <a:prstDash val="solid"/>
          </a:ln>
        </p:spPr>
      </p:sp>
      <p:sp>
        <p:nvSpPr>
          <p:cNvPr id="29" name="Text 27"/>
          <p:cNvSpPr/>
          <p:nvPr/>
        </p:nvSpPr>
        <p:spPr>
          <a:xfrm>
            <a:off x="7467600" y="3848100"/>
            <a:ext cx="3962400" cy="457200"/>
          </a:xfrm>
          <a:prstGeom prst="rect">
            <a:avLst/>
          </a:prstGeom>
          <a:noFill/>
          <a:ln/>
        </p:spPr>
        <p:txBody>
          <a:bodyPr wrap="square" lIns="0" tIns="0" rIns="0" bIns="0" rtlCol="0" anchor="t"/>
          <a:lstStyle/>
          <a:p>
            <a:pPr indent="0" marL="0">
              <a:lnSpc>
                <a:spcPct val="123000"/>
              </a:lnSpc>
              <a:buNone/>
            </a:pPr>
            <a:r>
              <a:rPr lang="en-US" sz="1700" b="1" dirty="0">
                <a:solidFill>
                  <a:srgbClr val="FFFFFF"/>
                </a:solidFill>
                <a:latin typeface="Arial" pitchFamily="34" charset="0"/>
                <a:ea typeface="Arial" pitchFamily="34" charset="-122"/>
                <a:cs typeface="Arial" pitchFamily="34" charset="-120"/>
              </a:rPr>
              <a:t>Especificar Formato</a:t>
            </a:r>
            <a:endParaRPr lang="en-US" sz="1700" dirty="0"/>
          </a:p>
        </p:txBody>
      </p:sp>
      <p:sp>
        <p:nvSpPr>
          <p:cNvPr id="30" name="Shape 28"/>
          <p:cNvSpPr/>
          <p:nvPr/>
        </p:nvSpPr>
        <p:spPr>
          <a:xfrm>
            <a:off x="7239000" y="4470400"/>
            <a:ext cx="4419600" cy="609600"/>
          </a:xfrm>
          <a:prstGeom prst="roundRect">
            <a:avLst/>
          </a:prstGeom>
          <a:solidFill>
            <a:srgbClr val="E3E9FF"/>
          </a:solidFill>
          <a:ln w="12700">
            <a:solidFill>
              <a:srgbClr val="E3E9FF"/>
            </a:solidFill>
            <a:prstDash val="solid"/>
          </a:ln>
        </p:spPr>
      </p:sp>
      <p:sp>
        <p:nvSpPr>
          <p:cNvPr id="31" name="Text 29"/>
          <p:cNvSpPr/>
          <p:nvPr/>
        </p:nvSpPr>
        <p:spPr>
          <a:xfrm>
            <a:off x="7467600" y="4572000"/>
            <a:ext cx="3962400" cy="457200"/>
          </a:xfrm>
          <a:prstGeom prst="rect">
            <a:avLst/>
          </a:prstGeom>
          <a:noFill/>
          <a:ln/>
        </p:spPr>
        <p:txBody>
          <a:bodyPr wrap="square" lIns="0" tIns="0" rIns="0" bIns="0" rtlCol="0" anchor="t"/>
          <a:lstStyle/>
          <a:p>
            <a:pPr indent="0" marL="0">
              <a:lnSpc>
                <a:spcPct val="123000"/>
              </a:lnSpc>
              <a:buNone/>
            </a:pPr>
            <a:r>
              <a:rPr lang="en-US" sz="1700" b="1" dirty="0">
                <a:solidFill>
                  <a:srgbClr val="172554"/>
                </a:solidFill>
                <a:latin typeface="Arial" pitchFamily="34" charset="0"/>
                <a:ea typeface="Arial" pitchFamily="34" charset="-122"/>
                <a:cs typeface="Arial" pitchFamily="34" charset="-120"/>
              </a:rPr>
              <a:t>Revisar y Ajustar</a:t>
            </a:r>
            <a:endParaRPr lang="en-US" sz="1700" dirty="0"/>
          </a:p>
        </p:txBody>
      </p:sp>
      <p:sp>
        <p:nvSpPr>
          <p:cNvPr id="32" name="Shape 30"/>
          <p:cNvSpPr/>
          <p:nvPr/>
        </p:nvSpPr>
        <p:spPr>
          <a:xfrm>
            <a:off x="533400" y="6019800"/>
            <a:ext cx="11125200" cy="342900"/>
          </a:xfrm>
          <a:prstGeom prst="roundRect">
            <a:avLst/>
          </a:prstGeom>
          <a:solidFill>
            <a:srgbClr val="E3E9FF"/>
          </a:solidFill>
          <a:ln w="12700">
            <a:solidFill>
              <a:srgbClr val="E3E9FF"/>
            </a:solidFill>
            <a:prstDash val="solid"/>
          </a:ln>
        </p:spPr>
      </p:sp>
      <p:sp>
        <p:nvSpPr>
          <p:cNvPr id="33" name="Text 31"/>
          <p:cNvSpPr/>
          <p:nvPr/>
        </p:nvSpPr>
        <p:spPr>
          <a:xfrm>
            <a:off x="685800" y="6108700"/>
            <a:ext cx="10820400" cy="228600"/>
          </a:xfrm>
          <a:prstGeom prst="rect">
            <a:avLst/>
          </a:prstGeom>
          <a:noFill/>
          <a:ln/>
        </p:spPr>
        <p:txBody>
          <a:bodyPr wrap="square" lIns="0" tIns="0" rIns="0" bIns="0" rtlCol="0" anchor="t"/>
          <a:lstStyle/>
          <a:p>
            <a:pPr indent="0" marL="0">
              <a:lnSpc>
                <a:spcPct val="123000"/>
              </a:lnSpc>
              <a:buNone/>
            </a:pPr>
            <a:r>
              <a:rPr lang="en-US" sz="1100" b="1" dirty="0">
                <a:solidFill>
                  <a:srgbClr val="3B54DB"/>
                </a:solidFill>
                <a:latin typeface="Arial" pitchFamily="34" charset="0"/>
                <a:ea typeface="Arial" pitchFamily="34" charset="-122"/>
                <a:cs typeface="Arial" pitchFamily="34" charset="-120"/>
              </a:rPr>
              <a:t>La precisión en la instrucción determina la calidad del recurso educativo obtenido.</a:t>
            </a:r>
            <a:endParaRPr lang="en-US" sz="1100" dirty="0"/>
          </a:p>
        </p:txBody>
      </p:sp>
      <p:sp>
        <p:nvSpPr>
          <p:cNvPr id="34" name="Text 32"/>
          <p:cNvSpPr/>
          <p:nvPr/>
        </p:nvSpPr>
        <p:spPr>
          <a:xfrm>
            <a:off x="533400" y="6540500"/>
            <a:ext cx="8255000" cy="190500"/>
          </a:xfrm>
          <a:prstGeom prst="rect">
            <a:avLst/>
          </a:prstGeom>
          <a:noFill/>
          <a:ln/>
        </p:spPr>
        <p:txBody>
          <a:bodyPr wrap="square" lIns="0" tIns="0" rIns="0" bIns="0" rtlCol="0" anchor="t"/>
          <a:lstStyle/>
          <a:p>
            <a:pPr indent="0" marL="0">
              <a:lnSpc>
                <a:spcPct val="123000"/>
              </a:lnSpc>
              <a:buNone/>
            </a:pPr>
            <a:r>
              <a:rPr lang="en-US" sz="800" dirty="0">
                <a:solidFill>
                  <a:srgbClr val="172554"/>
                </a:solidFill>
                <a:latin typeface="Arial" pitchFamily="34" charset="0"/>
                <a:ea typeface="Arial" pitchFamily="34" charset="-122"/>
                <a:cs typeface="Arial" pitchFamily="34" charset="-120"/>
              </a:rPr>
              <a:t>Inteligencia Artificial en el Aula: Guía Práctica para Docentes</a:t>
            </a:r>
            <a:endParaRPr lang="en-US" sz="800" dirty="0"/>
          </a:p>
        </p:txBody>
      </p:sp>
      <p:sp>
        <p:nvSpPr>
          <p:cNvPr id="35" name="Text 33"/>
          <p:cNvSpPr/>
          <p:nvPr/>
        </p:nvSpPr>
        <p:spPr>
          <a:xfrm>
            <a:off x="10922000" y="6515100"/>
            <a:ext cx="736600" cy="228600"/>
          </a:xfrm>
          <a:prstGeom prst="rect">
            <a:avLst/>
          </a:prstGeom>
          <a:noFill/>
          <a:ln/>
        </p:spPr>
        <p:txBody>
          <a:bodyPr wrap="square" lIns="0" tIns="0" rIns="0" bIns="0" rtlCol="0" anchor="t"/>
          <a:lstStyle/>
          <a:p>
            <a:pPr indent="0" marL="0">
              <a:lnSpc>
                <a:spcPct val="123000"/>
              </a:lnSpc>
              <a:buNone/>
            </a:pPr>
            <a:r>
              <a:rPr lang="en-US" sz="900" b="1" dirty="0">
                <a:solidFill>
                  <a:srgbClr val="3B54DB"/>
                </a:solidFill>
                <a:latin typeface="Arial" pitchFamily="34" charset="0"/>
                <a:ea typeface="Arial" pitchFamily="34" charset="-122"/>
                <a:cs typeface="Arial" pitchFamily="34" charset="-120"/>
              </a:rPr>
              <a:t>4 / 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F"/>
        </a:solidFill>
      </p:bgPr>
    </p:bg>
    <p:spTree>
      <p:nvGrpSpPr>
        <p:cNvPr id="1" name=""/>
        <p:cNvGrpSpPr/>
        <p:nvPr/>
      </p:nvGrpSpPr>
      <p:grpSpPr>
        <a:xfrm>
          <a:off x="0" y="0"/>
          <a:ext cx="0" cy="0"/>
          <a:chOff x="0" y="0"/>
          <a:chExt cx="0" cy="0"/>
        </a:xfrm>
      </p:grpSpPr>
      <p:sp>
        <p:nvSpPr>
          <p:cNvPr id="2" name="Shape 0"/>
          <p:cNvSpPr/>
          <p:nvPr/>
        </p:nvSpPr>
        <p:spPr>
          <a:xfrm>
            <a:off x="0" y="0"/>
            <a:ext cx="12192000" cy="114300"/>
          </a:xfrm>
          <a:prstGeom prst="rect">
            <a:avLst/>
          </a:prstGeom>
          <a:solidFill>
            <a:srgbClr val="3B54DB"/>
          </a:solidFill>
          <a:ln w="12700">
            <a:solidFill>
              <a:srgbClr val="3B54DB"/>
            </a:solidFill>
            <a:prstDash val="solid"/>
          </a:ln>
        </p:spPr>
      </p:sp>
      <p:sp>
        <p:nvSpPr>
          <p:cNvPr id="3" name="Shape 1"/>
          <p:cNvSpPr/>
          <p:nvPr/>
        </p:nvSpPr>
        <p:spPr>
          <a:xfrm>
            <a:off x="11366500" y="254000"/>
            <a:ext cx="1206500" cy="1206500"/>
          </a:xfrm>
          <a:prstGeom prst="ellipse">
            <a:avLst/>
          </a:prstGeom>
          <a:solidFill>
            <a:srgbClr val="E3E9FF"/>
          </a:solidFill>
          <a:ln w="12700">
            <a:solidFill>
              <a:srgbClr val="E3E9FF"/>
            </a:solidFill>
            <a:prstDash val="solid"/>
          </a:ln>
        </p:spPr>
      </p:sp>
      <p:sp>
        <p:nvSpPr>
          <p:cNvPr id="4" name="Shape 2"/>
          <p:cNvSpPr/>
          <p:nvPr/>
        </p:nvSpPr>
        <p:spPr>
          <a:xfrm>
            <a:off x="11722100" y="1016000"/>
            <a:ext cx="381000" cy="381000"/>
          </a:xfrm>
          <a:prstGeom prst="ellipse">
            <a:avLst/>
          </a:prstGeom>
          <a:solidFill>
            <a:srgbClr val="06B6D4"/>
          </a:solidFill>
          <a:ln w="12700">
            <a:solidFill>
              <a:srgbClr val="06B6D4"/>
            </a:solidFill>
            <a:prstDash val="solid"/>
          </a:ln>
        </p:spPr>
      </p:sp>
      <p:sp>
        <p:nvSpPr>
          <p:cNvPr id="5" name="Text 3"/>
          <p:cNvSpPr/>
          <p:nvPr/>
        </p:nvSpPr>
        <p:spPr>
          <a:xfrm>
            <a:off x="533400" y="368300"/>
            <a:ext cx="10668000" cy="254000"/>
          </a:xfrm>
          <a:prstGeom prst="rect">
            <a:avLst/>
          </a:prstGeom>
          <a:noFill/>
          <a:ln/>
        </p:spPr>
        <p:txBody>
          <a:bodyPr wrap="square" lIns="0" tIns="0" rIns="0" bIns="0" rtlCol="0" anchor="t"/>
          <a:lstStyle/>
          <a:p>
            <a:pPr indent="0" marL="0">
              <a:lnSpc>
                <a:spcPct val="123000"/>
              </a:lnSpc>
              <a:buNone/>
            </a:pPr>
            <a:r>
              <a:rPr lang="en-US" sz="1000" b="1" dirty="0">
                <a:solidFill>
                  <a:srgbClr val="3B54DB"/>
                </a:solidFill>
                <a:latin typeface="Arial" pitchFamily="34" charset="0"/>
                <a:ea typeface="Arial" pitchFamily="34" charset="-122"/>
                <a:cs typeface="Arial" pitchFamily="34" charset="-120"/>
              </a:rPr>
              <a:t>PONLO EN PRÁCTICA</a:t>
            </a:r>
            <a:endParaRPr lang="en-US" sz="1000" dirty="0"/>
          </a:p>
        </p:txBody>
      </p:sp>
      <p:sp>
        <p:nvSpPr>
          <p:cNvPr id="6" name="Text 4"/>
          <p:cNvSpPr/>
          <p:nvPr/>
        </p:nvSpPr>
        <p:spPr>
          <a:xfrm>
            <a:off x="533400" y="787400"/>
            <a:ext cx="10668000" cy="838200"/>
          </a:xfrm>
          <a:prstGeom prst="rect">
            <a:avLst/>
          </a:prstGeom>
          <a:noFill/>
          <a:ln/>
        </p:spPr>
        <p:txBody>
          <a:bodyPr wrap="square" lIns="0" tIns="0" rIns="0" bIns="0" rtlCol="0" anchor="t"/>
          <a:lstStyle/>
          <a:p>
            <a:pPr indent="0" marL="0">
              <a:lnSpc>
                <a:spcPct val="123000"/>
              </a:lnSpc>
              <a:buNone/>
            </a:pPr>
            <a:r>
              <a:rPr lang="en-US" sz="3100" b="1" dirty="0">
                <a:solidFill>
                  <a:srgbClr val="172554"/>
                </a:solidFill>
                <a:latin typeface="Arial" pitchFamily="34" charset="0"/>
                <a:ea typeface="Arial" pitchFamily="34" charset="-122"/>
                <a:cs typeface="Arial" pitchFamily="34" charset="-120"/>
              </a:rPr>
              <a:t>Taller Exprés: Creación de una Rúbrica Inteligente</a:t>
            </a:r>
            <a:endParaRPr lang="en-US" sz="3100" dirty="0"/>
          </a:p>
        </p:txBody>
      </p:sp>
      <p:sp>
        <p:nvSpPr>
          <p:cNvPr id="7" name="Text 5"/>
          <p:cNvSpPr/>
          <p:nvPr/>
        </p:nvSpPr>
        <p:spPr>
          <a:xfrm>
            <a:off x="533400" y="1676400"/>
            <a:ext cx="10795000" cy="381000"/>
          </a:xfrm>
          <a:prstGeom prst="rect">
            <a:avLst/>
          </a:prstGeom>
          <a:noFill/>
          <a:ln/>
        </p:spPr>
        <p:txBody>
          <a:bodyPr wrap="square" lIns="0" tIns="0" rIns="0" bIns="0" rtlCol="0" anchor="t"/>
          <a:lstStyle/>
          <a:p>
            <a:pPr indent="0" marL="0">
              <a:lnSpc>
                <a:spcPct val="123000"/>
              </a:lnSpc>
              <a:buNone/>
            </a:pPr>
            <a:r>
              <a:rPr lang="en-US" sz="1300" dirty="0">
                <a:solidFill>
                  <a:srgbClr val="3B54DB"/>
                </a:solidFill>
                <a:latin typeface="Arial" pitchFamily="34" charset="0"/>
                <a:ea typeface="Arial" pitchFamily="34" charset="-122"/>
                <a:cs typeface="Arial" pitchFamily="34" charset="-120"/>
              </a:rPr>
              <a:t>Experimentación guiada con herramientas de generación de texto</a:t>
            </a:r>
            <a:endParaRPr lang="en-US" sz="1300" dirty="0"/>
          </a:p>
        </p:txBody>
      </p:sp>
      <p:sp>
        <p:nvSpPr>
          <p:cNvPr id="8" name="Shape 6"/>
          <p:cNvSpPr/>
          <p:nvPr/>
        </p:nvSpPr>
        <p:spPr>
          <a:xfrm>
            <a:off x="533400" y="2082800"/>
            <a:ext cx="6223000" cy="431800"/>
          </a:xfrm>
          <a:prstGeom prst="roundRect">
            <a:avLst/>
          </a:prstGeom>
          <a:solidFill>
            <a:srgbClr val="3B54DB"/>
          </a:solidFill>
          <a:ln w="12700">
            <a:solidFill>
              <a:srgbClr val="3B54DB"/>
            </a:solidFill>
            <a:prstDash val="solid"/>
          </a:ln>
        </p:spPr>
      </p:sp>
      <p:sp>
        <p:nvSpPr>
          <p:cNvPr id="9" name="Text 7"/>
          <p:cNvSpPr/>
          <p:nvPr/>
        </p:nvSpPr>
        <p:spPr>
          <a:xfrm>
            <a:off x="736600" y="2197100"/>
            <a:ext cx="5816600" cy="241300"/>
          </a:xfrm>
          <a:prstGeom prst="rect">
            <a:avLst/>
          </a:prstGeom>
          <a:noFill/>
          <a:ln/>
        </p:spPr>
        <p:txBody>
          <a:bodyPr wrap="square" lIns="0" tIns="0" rIns="0" bIns="0" rtlCol="0" anchor="t"/>
          <a:lstStyle/>
          <a:p>
            <a:pPr indent="0" marL="0">
              <a:lnSpc>
                <a:spcPct val="123000"/>
              </a:lnSpc>
              <a:buNone/>
            </a:pPr>
            <a:r>
              <a:rPr lang="en-US" sz="1100" b="1" dirty="0">
                <a:solidFill>
                  <a:srgbClr val="FFFFFF"/>
                </a:solidFill>
                <a:latin typeface="Arial" pitchFamily="34" charset="0"/>
                <a:ea typeface="Arial" pitchFamily="34" charset="-122"/>
                <a:cs typeface="Arial" pitchFamily="34" charset="-120"/>
              </a:rPr>
              <a:t>OBSERVA, RESUELVE Y EXPLICA TU RESPUESTA</a:t>
            </a:r>
            <a:endParaRPr lang="en-US" sz="1100" dirty="0"/>
          </a:p>
        </p:txBody>
      </p:sp>
      <p:sp>
        <p:nvSpPr>
          <p:cNvPr id="10" name="Shape 8"/>
          <p:cNvSpPr/>
          <p:nvPr/>
        </p:nvSpPr>
        <p:spPr>
          <a:xfrm>
            <a:off x="533400" y="2667000"/>
            <a:ext cx="6223000" cy="692150"/>
          </a:xfrm>
          <a:prstGeom prst="roundRect">
            <a:avLst/>
          </a:prstGeom>
          <a:solidFill>
            <a:srgbClr val="FFFFFF"/>
          </a:solidFill>
          <a:ln w="12700">
            <a:solidFill>
              <a:srgbClr val="FFFFFF"/>
            </a:solidFill>
            <a:prstDash val="solid"/>
          </a:ln>
        </p:spPr>
      </p:sp>
      <p:sp>
        <p:nvSpPr>
          <p:cNvPr id="11" name="Shape 9"/>
          <p:cNvSpPr/>
          <p:nvPr/>
        </p:nvSpPr>
        <p:spPr>
          <a:xfrm>
            <a:off x="533400" y="2667000"/>
            <a:ext cx="50800" cy="692150"/>
          </a:xfrm>
          <a:prstGeom prst="rect">
            <a:avLst/>
          </a:prstGeom>
          <a:solidFill>
            <a:srgbClr val="3B54DB"/>
          </a:solidFill>
          <a:ln w="12700">
            <a:solidFill>
              <a:srgbClr val="3B54DB"/>
            </a:solidFill>
            <a:prstDash val="solid"/>
          </a:ln>
        </p:spPr>
      </p:sp>
      <p:sp>
        <p:nvSpPr>
          <p:cNvPr id="12" name="Text 10"/>
          <p:cNvSpPr/>
          <p:nvPr/>
        </p:nvSpPr>
        <p:spPr>
          <a:xfrm>
            <a:off x="736600" y="284480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01</a:t>
            </a:r>
            <a:endParaRPr lang="en-US" sz="1300" dirty="0"/>
          </a:p>
        </p:txBody>
      </p:sp>
      <p:sp>
        <p:nvSpPr>
          <p:cNvPr id="13" name="Text 11"/>
          <p:cNvSpPr/>
          <p:nvPr/>
        </p:nvSpPr>
        <p:spPr>
          <a:xfrm>
            <a:off x="1231900" y="2832100"/>
            <a:ext cx="5308600" cy="412750"/>
          </a:xfrm>
          <a:prstGeom prst="rect">
            <a:avLst/>
          </a:prstGeom>
          <a:noFill/>
          <a:ln/>
        </p:spPr>
        <p:txBody>
          <a:bodyPr wrap="square" lIns="0" tIns="0" rIns="0" bIns="0" rtlCol="0" anchor="t"/>
          <a:lstStyle/>
          <a:p>
            <a:pPr indent="0" marL="0">
              <a:lnSpc>
                <a:spcPct val="123000"/>
              </a:lnSpc>
              <a:buNone/>
            </a:pPr>
            <a:r>
              <a:rPr lang="en-US" sz="1300" dirty="0">
                <a:solidFill>
                  <a:srgbClr val="172554"/>
                </a:solidFill>
                <a:latin typeface="Arial" pitchFamily="34" charset="0"/>
                <a:ea typeface="Arial" pitchFamily="34" charset="-122"/>
                <a:cs typeface="Arial" pitchFamily="34" charset="-120"/>
              </a:rPr>
              <a:t>Ejercicio práctico en parejas: Redacten un prompt para generar una</a:t>
            </a:r>
            <a:endParaRPr lang="en-US" sz="1300" dirty="0"/>
          </a:p>
          <a:p>
            <a:pPr indent="0" marL="0">
              <a:lnSpc>
                <a:spcPct val="123000"/>
              </a:lnSpc>
              <a:buNone/>
            </a:pPr>
            <a:r>
              <a:rPr lang="en-US" sz="1300" dirty="0">
                <a:solidFill>
                  <a:srgbClr val="172554"/>
                </a:solidFill>
                <a:latin typeface="Arial" pitchFamily="34" charset="0"/>
                <a:ea typeface="Arial" pitchFamily="34" charset="-122"/>
                <a:cs typeface="Arial" pitchFamily="34" charset="-120"/>
              </a:rPr>
              <a:t>rúbrica de evaluación para un debate escolar sobre cambio climático.</a:t>
            </a:r>
            <a:endParaRPr lang="en-US" sz="1300" dirty="0"/>
          </a:p>
        </p:txBody>
      </p:sp>
      <p:sp>
        <p:nvSpPr>
          <p:cNvPr id="14" name="Shape 12"/>
          <p:cNvSpPr/>
          <p:nvPr/>
        </p:nvSpPr>
        <p:spPr>
          <a:xfrm>
            <a:off x="533400" y="3511550"/>
            <a:ext cx="6223000" cy="692150"/>
          </a:xfrm>
          <a:prstGeom prst="roundRect">
            <a:avLst/>
          </a:prstGeom>
          <a:solidFill>
            <a:srgbClr val="FFFFFF"/>
          </a:solidFill>
          <a:ln w="12700">
            <a:solidFill>
              <a:srgbClr val="FFFFFF"/>
            </a:solidFill>
            <a:prstDash val="solid"/>
          </a:ln>
        </p:spPr>
      </p:sp>
      <p:sp>
        <p:nvSpPr>
          <p:cNvPr id="15" name="Shape 13"/>
          <p:cNvSpPr/>
          <p:nvPr/>
        </p:nvSpPr>
        <p:spPr>
          <a:xfrm>
            <a:off x="533400" y="3511550"/>
            <a:ext cx="50800" cy="692150"/>
          </a:xfrm>
          <a:prstGeom prst="rect">
            <a:avLst/>
          </a:prstGeom>
          <a:solidFill>
            <a:srgbClr val="06B6D4"/>
          </a:solidFill>
          <a:ln w="12700">
            <a:solidFill>
              <a:srgbClr val="06B6D4"/>
            </a:solidFill>
            <a:prstDash val="solid"/>
          </a:ln>
        </p:spPr>
      </p:sp>
      <p:sp>
        <p:nvSpPr>
          <p:cNvPr id="16" name="Text 14"/>
          <p:cNvSpPr/>
          <p:nvPr/>
        </p:nvSpPr>
        <p:spPr>
          <a:xfrm>
            <a:off x="736600" y="368935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02</a:t>
            </a:r>
            <a:endParaRPr lang="en-US" sz="1300" dirty="0"/>
          </a:p>
        </p:txBody>
      </p:sp>
      <p:sp>
        <p:nvSpPr>
          <p:cNvPr id="17" name="Text 15"/>
          <p:cNvSpPr/>
          <p:nvPr/>
        </p:nvSpPr>
        <p:spPr>
          <a:xfrm>
            <a:off x="1231900" y="3676650"/>
            <a:ext cx="5308600" cy="412750"/>
          </a:xfrm>
          <a:prstGeom prst="rect">
            <a:avLst/>
          </a:prstGeom>
          <a:noFill/>
          <a:ln/>
        </p:spPr>
        <p:txBody>
          <a:bodyPr wrap="square" lIns="0" tIns="0" rIns="0" bIns="0" rtlCol="0" anchor="t"/>
          <a:lstStyle/>
          <a:p>
            <a:pPr indent="0" marL="0">
              <a:lnSpc>
                <a:spcPct val="123000"/>
              </a:lnSpc>
              <a:buNone/>
            </a:pPr>
            <a:r>
              <a:rPr lang="en-US" sz="1300" dirty="0">
                <a:solidFill>
                  <a:srgbClr val="172554"/>
                </a:solidFill>
                <a:latin typeface="Arial" pitchFamily="34" charset="0"/>
                <a:ea typeface="Arial" pitchFamily="34" charset="-122"/>
                <a:cs typeface="Arial" pitchFamily="34" charset="-120"/>
              </a:rPr>
              <a:t>Establezcan en la instrucción los criterios de evaluación: argumentación</a:t>
            </a:r>
            <a:endParaRPr lang="en-US" sz="1300" dirty="0"/>
          </a:p>
          <a:p>
            <a:pPr indent="0" marL="0">
              <a:lnSpc>
                <a:spcPct val="123000"/>
              </a:lnSpc>
              <a:buNone/>
            </a:pPr>
            <a:r>
              <a:rPr lang="en-US" sz="1300" dirty="0">
                <a:solidFill>
                  <a:srgbClr val="172554"/>
                </a:solidFill>
                <a:latin typeface="Arial" pitchFamily="34" charset="0"/>
                <a:ea typeface="Arial" pitchFamily="34" charset="-122"/>
                <a:cs typeface="Arial" pitchFamily="34" charset="-120"/>
              </a:rPr>
              <a:t>basada en evidencias, respeto al turno y claridad expositiva.</a:t>
            </a:r>
            <a:endParaRPr lang="en-US" sz="1300" dirty="0"/>
          </a:p>
        </p:txBody>
      </p:sp>
      <p:sp>
        <p:nvSpPr>
          <p:cNvPr id="18" name="Shape 16"/>
          <p:cNvSpPr/>
          <p:nvPr/>
        </p:nvSpPr>
        <p:spPr>
          <a:xfrm>
            <a:off x="533400" y="4356100"/>
            <a:ext cx="6223000" cy="692150"/>
          </a:xfrm>
          <a:prstGeom prst="roundRect">
            <a:avLst/>
          </a:prstGeom>
          <a:solidFill>
            <a:srgbClr val="FFFFFF"/>
          </a:solidFill>
          <a:ln w="12700">
            <a:solidFill>
              <a:srgbClr val="FFFFFF"/>
            </a:solidFill>
            <a:prstDash val="solid"/>
          </a:ln>
        </p:spPr>
      </p:sp>
      <p:sp>
        <p:nvSpPr>
          <p:cNvPr id="19" name="Shape 17"/>
          <p:cNvSpPr/>
          <p:nvPr/>
        </p:nvSpPr>
        <p:spPr>
          <a:xfrm>
            <a:off x="533400" y="4356100"/>
            <a:ext cx="50800" cy="692150"/>
          </a:xfrm>
          <a:prstGeom prst="rect">
            <a:avLst/>
          </a:prstGeom>
          <a:solidFill>
            <a:srgbClr val="3B54DB"/>
          </a:solidFill>
          <a:ln w="12700">
            <a:solidFill>
              <a:srgbClr val="3B54DB"/>
            </a:solidFill>
            <a:prstDash val="solid"/>
          </a:ln>
        </p:spPr>
      </p:sp>
      <p:sp>
        <p:nvSpPr>
          <p:cNvPr id="20" name="Text 18"/>
          <p:cNvSpPr/>
          <p:nvPr/>
        </p:nvSpPr>
        <p:spPr>
          <a:xfrm>
            <a:off x="736600" y="453390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03</a:t>
            </a:r>
            <a:endParaRPr lang="en-US" sz="1300" dirty="0"/>
          </a:p>
        </p:txBody>
      </p:sp>
      <p:sp>
        <p:nvSpPr>
          <p:cNvPr id="21" name="Text 19"/>
          <p:cNvSpPr/>
          <p:nvPr/>
        </p:nvSpPr>
        <p:spPr>
          <a:xfrm>
            <a:off x="1231900" y="4521200"/>
            <a:ext cx="5308600" cy="412750"/>
          </a:xfrm>
          <a:prstGeom prst="rect">
            <a:avLst/>
          </a:prstGeom>
          <a:noFill/>
          <a:ln/>
        </p:spPr>
        <p:txBody>
          <a:bodyPr wrap="square" lIns="0" tIns="0" rIns="0" bIns="0" rtlCol="0" anchor="t"/>
          <a:lstStyle/>
          <a:p>
            <a:pPr indent="0" marL="0">
              <a:lnSpc>
                <a:spcPct val="123000"/>
              </a:lnSpc>
              <a:buNone/>
            </a:pPr>
            <a:r>
              <a:rPr lang="en-US" sz="1300" dirty="0">
                <a:solidFill>
                  <a:srgbClr val="172554"/>
                </a:solidFill>
                <a:latin typeface="Arial" pitchFamily="34" charset="0"/>
                <a:ea typeface="Arial" pitchFamily="34" charset="-122"/>
                <a:cs typeface="Arial" pitchFamily="34" charset="-120"/>
              </a:rPr>
              <a:t>Intercambien los resultados obtenidos con otra pareja para evaluar qué</a:t>
            </a:r>
            <a:endParaRPr lang="en-US" sz="1300" dirty="0"/>
          </a:p>
          <a:p>
            <a:pPr indent="0" marL="0">
              <a:lnSpc>
                <a:spcPct val="123000"/>
              </a:lnSpc>
              <a:buNone/>
            </a:pPr>
            <a:r>
              <a:rPr lang="en-US" sz="1300" dirty="0">
                <a:solidFill>
                  <a:srgbClr val="172554"/>
                </a:solidFill>
                <a:latin typeface="Arial" pitchFamily="34" charset="0"/>
                <a:ea typeface="Arial" pitchFamily="34" charset="-122"/>
                <a:cs typeface="Arial" pitchFamily="34" charset="-120"/>
              </a:rPr>
              <a:t>nivel de personalización y precisión logró cada instrucción.</a:t>
            </a:r>
            <a:endParaRPr lang="en-US" sz="1300" dirty="0"/>
          </a:p>
        </p:txBody>
      </p:sp>
      <p:sp>
        <p:nvSpPr>
          <p:cNvPr id="22" name="Shape 20"/>
          <p:cNvSpPr/>
          <p:nvPr/>
        </p:nvSpPr>
        <p:spPr>
          <a:xfrm>
            <a:off x="533400" y="5200650"/>
            <a:ext cx="6223000" cy="692150"/>
          </a:xfrm>
          <a:prstGeom prst="roundRect">
            <a:avLst/>
          </a:prstGeom>
          <a:solidFill>
            <a:srgbClr val="FFFFFF"/>
          </a:solidFill>
          <a:ln w="12700">
            <a:solidFill>
              <a:srgbClr val="FFFFFF"/>
            </a:solidFill>
            <a:prstDash val="solid"/>
          </a:ln>
        </p:spPr>
      </p:sp>
      <p:sp>
        <p:nvSpPr>
          <p:cNvPr id="23" name="Shape 21"/>
          <p:cNvSpPr/>
          <p:nvPr/>
        </p:nvSpPr>
        <p:spPr>
          <a:xfrm>
            <a:off x="533400" y="5200650"/>
            <a:ext cx="50800" cy="692150"/>
          </a:xfrm>
          <a:prstGeom prst="rect">
            <a:avLst/>
          </a:prstGeom>
          <a:solidFill>
            <a:srgbClr val="06B6D4"/>
          </a:solidFill>
          <a:ln w="12700">
            <a:solidFill>
              <a:srgbClr val="06B6D4"/>
            </a:solidFill>
            <a:prstDash val="solid"/>
          </a:ln>
        </p:spPr>
      </p:sp>
      <p:sp>
        <p:nvSpPr>
          <p:cNvPr id="24" name="Text 22"/>
          <p:cNvSpPr/>
          <p:nvPr/>
        </p:nvSpPr>
        <p:spPr>
          <a:xfrm>
            <a:off x="736600" y="537845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04</a:t>
            </a:r>
            <a:endParaRPr lang="en-US" sz="1300" dirty="0"/>
          </a:p>
        </p:txBody>
      </p:sp>
      <p:sp>
        <p:nvSpPr>
          <p:cNvPr id="25" name="Text 23"/>
          <p:cNvSpPr/>
          <p:nvPr/>
        </p:nvSpPr>
        <p:spPr>
          <a:xfrm>
            <a:off x="1231900" y="5365750"/>
            <a:ext cx="5308600" cy="412750"/>
          </a:xfrm>
          <a:prstGeom prst="rect">
            <a:avLst/>
          </a:prstGeom>
          <a:noFill/>
          <a:ln/>
        </p:spPr>
        <p:txBody>
          <a:bodyPr wrap="square" lIns="0" tIns="0" rIns="0" bIns="0" rtlCol="0" anchor="t"/>
          <a:lstStyle/>
          <a:p>
            <a:pPr indent="0" marL="0">
              <a:lnSpc>
                <a:spcPct val="123000"/>
              </a:lnSpc>
              <a:buNone/>
            </a:pPr>
            <a:r>
              <a:rPr lang="en-US" sz="1300" dirty="0">
                <a:solidFill>
                  <a:srgbClr val="172554"/>
                </a:solidFill>
                <a:latin typeface="Arial" pitchFamily="34" charset="0"/>
                <a:ea typeface="Arial" pitchFamily="34" charset="-122"/>
                <a:cs typeface="Arial" pitchFamily="34" charset="-120"/>
              </a:rPr>
              <a:t>Compartan en plenaria cuál fue la instrucción que generó el resultado</a:t>
            </a:r>
            <a:endParaRPr lang="en-US" sz="1300" dirty="0"/>
          </a:p>
          <a:p>
            <a:pPr indent="0" marL="0">
              <a:lnSpc>
                <a:spcPct val="123000"/>
              </a:lnSpc>
              <a:buNone/>
            </a:pPr>
            <a:r>
              <a:rPr lang="en-US" sz="1300" dirty="0">
                <a:solidFill>
                  <a:srgbClr val="172554"/>
                </a:solidFill>
                <a:latin typeface="Arial" pitchFamily="34" charset="0"/>
                <a:ea typeface="Arial" pitchFamily="34" charset="-122"/>
                <a:cs typeface="Arial" pitchFamily="34" charset="-120"/>
              </a:rPr>
              <a:t>más útil y qué modificaciones posteriores debieron realizar.</a:t>
            </a:r>
            <a:endParaRPr lang="en-US" sz="1300" dirty="0"/>
          </a:p>
        </p:txBody>
      </p:sp>
      <p:sp>
        <p:nvSpPr>
          <p:cNvPr id="26" name="Shape 24"/>
          <p:cNvSpPr/>
          <p:nvPr/>
        </p:nvSpPr>
        <p:spPr>
          <a:xfrm>
            <a:off x="7137400" y="2197100"/>
            <a:ext cx="4419600" cy="3556000"/>
          </a:xfrm>
          <a:prstGeom prst="roundRect">
            <a:avLst/>
          </a:prstGeom>
          <a:solidFill>
            <a:srgbClr val="E3E9FF"/>
          </a:solidFill>
          <a:ln w="12700">
            <a:solidFill>
              <a:srgbClr val="E3E9FF"/>
            </a:solidFill>
            <a:prstDash val="solid"/>
          </a:ln>
        </p:spPr>
      </p:sp>
      <p:pic>
        <p:nvPicPr>
          <p:cNvPr id="27" name="Image 0" descr="Students working on class assignment in computer lab.jpg">    </p:cNvPr>
          <p:cNvPicPr>
            <a:picLocks noChangeAspect="1"/>
          </p:cNvPicPr>
          <p:nvPr/>
        </p:nvPicPr>
        <p:blipFill>
          <a:blip r:embed="rId1"/>
          <a:stretch>
            <a:fillRect/>
          </a:stretch>
        </p:blipFill>
        <p:spPr>
          <a:xfrm>
            <a:off x="7239000" y="2393950"/>
            <a:ext cx="4216400" cy="3162300"/>
          </a:xfrm>
          <a:prstGeom prst="rect">
            <a:avLst/>
          </a:prstGeom>
        </p:spPr>
      </p:pic>
      <p:sp>
        <p:nvSpPr>
          <p:cNvPr id="28" name="Shape 25"/>
          <p:cNvSpPr/>
          <p:nvPr/>
        </p:nvSpPr>
        <p:spPr>
          <a:xfrm>
            <a:off x="533400" y="6019800"/>
            <a:ext cx="11125200" cy="342900"/>
          </a:xfrm>
          <a:prstGeom prst="roundRect">
            <a:avLst/>
          </a:prstGeom>
          <a:solidFill>
            <a:srgbClr val="E3E9FF"/>
          </a:solidFill>
          <a:ln w="12700">
            <a:solidFill>
              <a:srgbClr val="E3E9FF"/>
            </a:solidFill>
            <a:prstDash val="solid"/>
          </a:ln>
        </p:spPr>
      </p:sp>
      <p:sp>
        <p:nvSpPr>
          <p:cNvPr id="29" name="Text 26"/>
          <p:cNvSpPr/>
          <p:nvPr/>
        </p:nvSpPr>
        <p:spPr>
          <a:xfrm>
            <a:off x="685800" y="6108700"/>
            <a:ext cx="10820400" cy="228600"/>
          </a:xfrm>
          <a:prstGeom prst="rect">
            <a:avLst/>
          </a:prstGeom>
          <a:noFill/>
          <a:ln/>
        </p:spPr>
        <p:txBody>
          <a:bodyPr wrap="square" lIns="0" tIns="0" rIns="0" bIns="0" rtlCol="0" anchor="t"/>
          <a:lstStyle/>
          <a:p>
            <a:pPr indent="0" marL="0">
              <a:lnSpc>
                <a:spcPct val="123000"/>
              </a:lnSpc>
              <a:buNone/>
            </a:pPr>
            <a:r>
              <a:rPr lang="en-US" sz="1100" b="1" dirty="0">
                <a:solidFill>
                  <a:srgbClr val="3B54DB"/>
                </a:solidFill>
                <a:latin typeface="Arial" pitchFamily="34" charset="0"/>
                <a:ea typeface="Arial" pitchFamily="34" charset="-122"/>
                <a:cs typeface="Arial" pitchFamily="34" charset="-120"/>
              </a:rPr>
              <a:t>La práctica colaborativa acelera la curva de aprendizaje en herramientas digitales.</a:t>
            </a:r>
            <a:endParaRPr lang="en-US" sz="1100" dirty="0"/>
          </a:p>
        </p:txBody>
      </p:sp>
      <p:sp>
        <p:nvSpPr>
          <p:cNvPr id="30" name="Text 27"/>
          <p:cNvSpPr/>
          <p:nvPr/>
        </p:nvSpPr>
        <p:spPr>
          <a:xfrm>
            <a:off x="533400" y="6540500"/>
            <a:ext cx="8255000" cy="190500"/>
          </a:xfrm>
          <a:prstGeom prst="rect">
            <a:avLst/>
          </a:prstGeom>
          <a:noFill/>
          <a:ln/>
        </p:spPr>
        <p:txBody>
          <a:bodyPr wrap="square" lIns="0" tIns="0" rIns="0" bIns="0" rtlCol="0" anchor="t"/>
          <a:lstStyle/>
          <a:p>
            <a:pPr indent="0" marL="0">
              <a:lnSpc>
                <a:spcPct val="123000"/>
              </a:lnSpc>
              <a:buNone/>
            </a:pPr>
            <a:r>
              <a:rPr lang="en-US" sz="800" dirty="0">
                <a:solidFill>
                  <a:srgbClr val="172554"/>
                </a:solidFill>
                <a:latin typeface="Arial" pitchFamily="34" charset="0"/>
                <a:ea typeface="Arial" pitchFamily="34" charset="-122"/>
                <a:cs typeface="Arial" pitchFamily="34" charset="-120"/>
              </a:rPr>
              <a:t>Inteligencia Artificial en el Aula: Guía Práctica para Docentes</a:t>
            </a:r>
            <a:endParaRPr lang="en-US" sz="800" dirty="0"/>
          </a:p>
        </p:txBody>
      </p:sp>
      <p:sp>
        <p:nvSpPr>
          <p:cNvPr id="31" name="Text 28"/>
          <p:cNvSpPr/>
          <p:nvPr/>
        </p:nvSpPr>
        <p:spPr>
          <a:xfrm>
            <a:off x="10922000" y="6515100"/>
            <a:ext cx="736600" cy="228600"/>
          </a:xfrm>
          <a:prstGeom prst="rect">
            <a:avLst/>
          </a:prstGeom>
          <a:noFill/>
          <a:ln/>
        </p:spPr>
        <p:txBody>
          <a:bodyPr wrap="square" lIns="0" tIns="0" rIns="0" bIns="0" rtlCol="0" anchor="t"/>
          <a:lstStyle/>
          <a:p>
            <a:pPr indent="0" marL="0">
              <a:lnSpc>
                <a:spcPct val="123000"/>
              </a:lnSpc>
              <a:buNone/>
            </a:pPr>
            <a:r>
              <a:rPr lang="en-US" sz="900" b="1" dirty="0">
                <a:solidFill>
                  <a:srgbClr val="3B54DB"/>
                </a:solidFill>
                <a:latin typeface="Arial" pitchFamily="34" charset="0"/>
                <a:ea typeface="Arial" pitchFamily="34" charset="-122"/>
                <a:cs typeface="Arial" pitchFamily="34" charset="-120"/>
              </a:rPr>
              <a:t>5 / 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F"/>
        </a:solidFill>
      </p:bgPr>
    </p:bg>
    <p:spTree>
      <p:nvGrpSpPr>
        <p:cNvPr id="1" name=""/>
        <p:cNvGrpSpPr/>
        <p:nvPr/>
      </p:nvGrpSpPr>
      <p:grpSpPr>
        <a:xfrm>
          <a:off x="0" y="0"/>
          <a:ext cx="0" cy="0"/>
          <a:chOff x="0" y="0"/>
          <a:chExt cx="0" cy="0"/>
        </a:xfrm>
      </p:grpSpPr>
      <p:sp>
        <p:nvSpPr>
          <p:cNvPr id="2" name="Shape 0"/>
          <p:cNvSpPr/>
          <p:nvPr/>
        </p:nvSpPr>
        <p:spPr>
          <a:xfrm>
            <a:off x="0" y="0"/>
            <a:ext cx="12192000" cy="114300"/>
          </a:xfrm>
          <a:prstGeom prst="rect">
            <a:avLst/>
          </a:prstGeom>
          <a:solidFill>
            <a:srgbClr val="3B54DB"/>
          </a:solidFill>
          <a:ln w="12700">
            <a:solidFill>
              <a:srgbClr val="3B54DB"/>
            </a:solidFill>
            <a:prstDash val="solid"/>
          </a:ln>
        </p:spPr>
      </p:sp>
      <p:sp>
        <p:nvSpPr>
          <p:cNvPr id="3" name="Shape 1"/>
          <p:cNvSpPr/>
          <p:nvPr/>
        </p:nvSpPr>
        <p:spPr>
          <a:xfrm>
            <a:off x="11366500" y="254000"/>
            <a:ext cx="1206500" cy="1206500"/>
          </a:xfrm>
          <a:prstGeom prst="ellipse">
            <a:avLst/>
          </a:prstGeom>
          <a:solidFill>
            <a:srgbClr val="E3E9FF"/>
          </a:solidFill>
          <a:ln w="12700">
            <a:solidFill>
              <a:srgbClr val="E3E9FF"/>
            </a:solidFill>
            <a:prstDash val="solid"/>
          </a:ln>
        </p:spPr>
      </p:sp>
      <p:sp>
        <p:nvSpPr>
          <p:cNvPr id="4" name="Shape 2"/>
          <p:cNvSpPr/>
          <p:nvPr/>
        </p:nvSpPr>
        <p:spPr>
          <a:xfrm>
            <a:off x="11722100" y="1016000"/>
            <a:ext cx="381000" cy="381000"/>
          </a:xfrm>
          <a:prstGeom prst="ellipse">
            <a:avLst/>
          </a:prstGeom>
          <a:solidFill>
            <a:srgbClr val="06B6D4"/>
          </a:solidFill>
          <a:ln w="12700">
            <a:solidFill>
              <a:srgbClr val="06B6D4"/>
            </a:solidFill>
            <a:prstDash val="solid"/>
          </a:ln>
        </p:spPr>
      </p:sp>
      <p:sp>
        <p:nvSpPr>
          <p:cNvPr id="5" name="Text 3"/>
          <p:cNvSpPr/>
          <p:nvPr/>
        </p:nvSpPr>
        <p:spPr>
          <a:xfrm>
            <a:off x="533400" y="368300"/>
            <a:ext cx="10668000" cy="254000"/>
          </a:xfrm>
          <a:prstGeom prst="rect">
            <a:avLst/>
          </a:prstGeom>
          <a:noFill/>
          <a:ln/>
        </p:spPr>
        <p:txBody>
          <a:bodyPr wrap="square" lIns="0" tIns="0" rIns="0" bIns="0" rtlCol="0" anchor="t"/>
          <a:lstStyle/>
          <a:p>
            <a:pPr indent="0" marL="0">
              <a:lnSpc>
                <a:spcPct val="123000"/>
              </a:lnSpc>
              <a:buNone/>
            </a:pPr>
            <a:r>
              <a:rPr lang="en-US" sz="1000" b="1" dirty="0">
                <a:solidFill>
                  <a:srgbClr val="3B54DB"/>
                </a:solidFill>
                <a:latin typeface="Arial" pitchFamily="34" charset="0"/>
                <a:ea typeface="Arial" pitchFamily="34" charset="-122"/>
                <a:cs typeface="Arial" pitchFamily="34" charset="-120"/>
              </a:rPr>
              <a:t>PARA LLEVAR A CLASE</a:t>
            </a:r>
            <a:endParaRPr lang="en-US" sz="1000" dirty="0"/>
          </a:p>
        </p:txBody>
      </p:sp>
      <p:sp>
        <p:nvSpPr>
          <p:cNvPr id="6" name="Text 4"/>
          <p:cNvSpPr/>
          <p:nvPr/>
        </p:nvSpPr>
        <p:spPr>
          <a:xfrm>
            <a:off x="533400" y="787400"/>
            <a:ext cx="10668000" cy="838200"/>
          </a:xfrm>
          <a:prstGeom prst="rect">
            <a:avLst/>
          </a:prstGeom>
          <a:noFill/>
          <a:ln/>
        </p:spPr>
        <p:txBody>
          <a:bodyPr wrap="square" lIns="0" tIns="0" rIns="0" bIns="0" rtlCol="0" anchor="t"/>
          <a:lstStyle/>
          <a:p>
            <a:pPr indent="0" marL="0">
              <a:lnSpc>
                <a:spcPct val="123000"/>
              </a:lnSpc>
              <a:buNone/>
            </a:pPr>
            <a:r>
              <a:rPr lang="en-US" sz="3100" b="1" dirty="0">
                <a:solidFill>
                  <a:srgbClr val="172554"/>
                </a:solidFill>
                <a:latin typeface="Arial" pitchFamily="34" charset="0"/>
                <a:ea typeface="Arial" pitchFamily="34" charset="-122"/>
                <a:cs typeface="Arial" pitchFamily="34" charset="-120"/>
              </a:rPr>
              <a:t>Hacia un Futuro Ético y Sostenible con IA</a:t>
            </a:r>
            <a:endParaRPr lang="en-US" sz="3100" dirty="0"/>
          </a:p>
        </p:txBody>
      </p:sp>
      <p:sp>
        <p:nvSpPr>
          <p:cNvPr id="7" name="Text 5"/>
          <p:cNvSpPr/>
          <p:nvPr/>
        </p:nvSpPr>
        <p:spPr>
          <a:xfrm>
            <a:off x="533400" y="1676400"/>
            <a:ext cx="10795000" cy="381000"/>
          </a:xfrm>
          <a:prstGeom prst="rect">
            <a:avLst/>
          </a:prstGeom>
          <a:noFill/>
          <a:ln/>
        </p:spPr>
        <p:txBody>
          <a:bodyPr wrap="square" lIns="0" tIns="0" rIns="0" bIns="0" rtlCol="0" anchor="t"/>
          <a:lstStyle/>
          <a:p>
            <a:pPr indent="0" marL="0">
              <a:lnSpc>
                <a:spcPct val="123000"/>
              </a:lnSpc>
              <a:buNone/>
            </a:pPr>
            <a:r>
              <a:rPr lang="en-US" sz="1300" dirty="0">
                <a:solidFill>
                  <a:srgbClr val="3B54DB"/>
                </a:solidFill>
                <a:latin typeface="Arial" pitchFamily="34" charset="0"/>
                <a:ea typeface="Arial" pitchFamily="34" charset="-122"/>
                <a:cs typeface="Arial" pitchFamily="34" charset="-120"/>
              </a:rPr>
              <a:t>Responsabilidad, criterio y visión de futuro en la educación</a:t>
            </a:r>
            <a:endParaRPr lang="en-US" sz="1300" dirty="0"/>
          </a:p>
        </p:txBody>
      </p:sp>
      <p:sp>
        <p:nvSpPr>
          <p:cNvPr id="8" name="Shape 6"/>
          <p:cNvSpPr/>
          <p:nvPr/>
        </p:nvSpPr>
        <p:spPr>
          <a:xfrm>
            <a:off x="533400" y="2146300"/>
            <a:ext cx="11125200" cy="806450"/>
          </a:xfrm>
          <a:prstGeom prst="roundRect">
            <a:avLst/>
          </a:prstGeom>
          <a:solidFill>
            <a:srgbClr val="FFFFFF"/>
          </a:solidFill>
          <a:ln w="12700">
            <a:solidFill>
              <a:srgbClr val="FFFFFF"/>
            </a:solidFill>
            <a:prstDash val="solid"/>
          </a:ln>
        </p:spPr>
      </p:sp>
      <p:sp>
        <p:nvSpPr>
          <p:cNvPr id="9" name="Shape 7"/>
          <p:cNvSpPr/>
          <p:nvPr/>
        </p:nvSpPr>
        <p:spPr>
          <a:xfrm>
            <a:off x="533400" y="2146300"/>
            <a:ext cx="50800" cy="806450"/>
          </a:xfrm>
          <a:prstGeom prst="rect">
            <a:avLst/>
          </a:prstGeom>
          <a:solidFill>
            <a:srgbClr val="3B54DB"/>
          </a:solidFill>
          <a:ln w="12700">
            <a:solidFill>
              <a:srgbClr val="3B54DB"/>
            </a:solidFill>
            <a:prstDash val="solid"/>
          </a:ln>
        </p:spPr>
      </p:sp>
      <p:sp>
        <p:nvSpPr>
          <p:cNvPr id="10" name="Text 8"/>
          <p:cNvSpPr/>
          <p:nvPr/>
        </p:nvSpPr>
        <p:spPr>
          <a:xfrm>
            <a:off x="736600" y="232410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01</a:t>
            </a:r>
            <a:endParaRPr lang="en-US" sz="1300" dirty="0"/>
          </a:p>
        </p:txBody>
      </p:sp>
      <p:sp>
        <p:nvSpPr>
          <p:cNvPr id="11" name="Text 9"/>
          <p:cNvSpPr/>
          <p:nvPr/>
        </p:nvSpPr>
        <p:spPr>
          <a:xfrm>
            <a:off x="1231900" y="2311400"/>
            <a:ext cx="10210800" cy="527050"/>
          </a:xfrm>
          <a:prstGeom prst="rect">
            <a:avLst/>
          </a:prstGeom>
          <a:noFill/>
          <a:ln/>
        </p:spPr>
        <p:txBody>
          <a:bodyPr wrap="square" lIns="0" tIns="0" rIns="0" bIns="0" rtlCol="0" anchor="t"/>
          <a:lstStyle/>
          <a:p>
            <a:pPr indent="0" marL="0">
              <a:lnSpc>
                <a:spcPct val="123000"/>
              </a:lnSpc>
              <a:buNone/>
            </a:pPr>
            <a:r>
              <a:rPr lang="en-US" sz="1650" dirty="0">
                <a:solidFill>
                  <a:srgbClr val="172554"/>
                </a:solidFill>
                <a:latin typeface="Arial" pitchFamily="34" charset="0"/>
                <a:ea typeface="Arial" pitchFamily="34" charset="-122"/>
                <a:cs typeface="Arial" pitchFamily="34" charset="-120"/>
              </a:rPr>
              <a:t>Desafíos actuales: Privacidad de datos estudiantiles, sesgos algorítmicos y dependencia excesiva de</a:t>
            </a:r>
            <a:endParaRPr lang="en-US" sz="1650" dirty="0"/>
          </a:p>
          <a:p>
            <a:pPr indent="0" marL="0">
              <a:lnSpc>
                <a:spcPct val="123000"/>
              </a:lnSpc>
              <a:buNone/>
            </a:pPr>
            <a:r>
              <a:rPr lang="en-US" sz="1650" dirty="0">
                <a:solidFill>
                  <a:srgbClr val="172554"/>
                </a:solidFill>
                <a:latin typeface="Arial" pitchFamily="34" charset="0"/>
                <a:ea typeface="Arial" pitchFamily="34" charset="-122"/>
                <a:cs typeface="Arial" pitchFamily="34" charset="-120"/>
              </a:rPr>
              <a:t>respuestas automatizadas.</a:t>
            </a:r>
            <a:endParaRPr lang="en-US" sz="1650" dirty="0"/>
          </a:p>
        </p:txBody>
      </p:sp>
      <p:sp>
        <p:nvSpPr>
          <p:cNvPr id="12" name="Shape 10"/>
          <p:cNvSpPr/>
          <p:nvPr/>
        </p:nvSpPr>
        <p:spPr>
          <a:xfrm>
            <a:off x="533400" y="3105150"/>
            <a:ext cx="11125200" cy="806450"/>
          </a:xfrm>
          <a:prstGeom prst="roundRect">
            <a:avLst/>
          </a:prstGeom>
          <a:solidFill>
            <a:srgbClr val="FFFFFF"/>
          </a:solidFill>
          <a:ln w="12700">
            <a:solidFill>
              <a:srgbClr val="FFFFFF"/>
            </a:solidFill>
            <a:prstDash val="solid"/>
          </a:ln>
        </p:spPr>
      </p:sp>
      <p:sp>
        <p:nvSpPr>
          <p:cNvPr id="13" name="Shape 11"/>
          <p:cNvSpPr/>
          <p:nvPr/>
        </p:nvSpPr>
        <p:spPr>
          <a:xfrm>
            <a:off x="533400" y="3105150"/>
            <a:ext cx="50800" cy="806450"/>
          </a:xfrm>
          <a:prstGeom prst="rect">
            <a:avLst/>
          </a:prstGeom>
          <a:solidFill>
            <a:srgbClr val="06B6D4"/>
          </a:solidFill>
          <a:ln w="12700">
            <a:solidFill>
              <a:srgbClr val="06B6D4"/>
            </a:solidFill>
            <a:prstDash val="solid"/>
          </a:ln>
        </p:spPr>
      </p:sp>
      <p:sp>
        <p:nvSpPr>
          <p:cNvPr id="14" name="Text 12"/>
          <p:cNvSpPr/>
          <p:nvPr/>
        </p:nvSpPr>
        <p:spPr>
          <a:xfrm>
            <a:off x="736600" y="328295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02</a:t>
            </a:r>
            <a:endParaRPr lang="en-US" sz="1300" dirty="0"/>
          </a:p>
        </p:txBody>
      </p:sp>
      <p:sp>
        <p:nvSpPr>
          <p:cNvPr id="15" name="Text 13"/>
          <p:cNvSpPr/>
          <p:nvPr/>
        </p:nvSpPr>
        <p:spPr>
          <a:xfrm>
            <a:off x="1231900" y="3270250"/>
            <a:ext cx="10210800" cy="527050"/>
          </a:xfrm>
          <a:prstGeom prst="rect">
            <a:avLst/>
          </a:prstGeom>
          <a:noFill/>
          <a:ln/>
        </p:spPr>
        <p:txBody>
          <a:bodyPr wrap="square" lIns="0" tIns="0" rIns="0" bIns="0" rtlCol="0" anchor="t"/>
          <a:lstStyle/>
          <a:p>
            <a:pPr indent="0" marL="0">
              <a:lnSpc>
                <a:spcPct val="123000"/>
              </a:lnSpc>
              <a:buNone/>
            </a:pPr>
            <a:r>
              <a:rPr lang="en-US" sz="1650" dirty="0">
                <a:solidFill>
                  <a:srgbClr val="172554"/>
                </a:solidFill>
                <a:latin typeface="Arial" pitchFamily="34" charset="0"/>
                <a:ea typeface="Arial" pitchFamily="34" charset="-122"/>
                <a:cs typeface="Arial" pitchFamily="34" charset="-120"/>
              </a:rPr>
              <a:t>La alfabetización en IA debe ser transversal, enseñando al alumnado a cuestionar la veracidad y el origen de</a:t>
            </a:r>
            <a:endParaRPr lang="en-US" sz="1650" dirty="0"/>
          </a:p>
          <a:p>
            <a:pPr indent="0" marL="0">
              <a:lnSpc>
                <a:spcPct val="123000"/>
              </a:lnSpc>
              <a:buNone/>
            </a:pPr>
            <a:r>
              <a:rPr lang="en-US" sz="1650" dirty="0">
                <a:solidFill>
                  <a:srgbClr val="172554"/>
                </a:solidFill>
                <a:latin typeface="Arial" pitchFamily="34" charset="0"/>
                <a:ea typeface="Arial" pitchFamily="34" charset="-122"/>
                <a:cs typeface="Arial" pitchFamily="34" charset="-120"/>
              </a:rPr>
              <a:t>los contenidos digitales.</a:t>
            </a:r>
            <a:endParaRPr lang="en-US" sz="1650" dirty="0"/>
          </a:p>
        </p:txBody>
      </p:sp>
      <p:sp>
        <p:nvSpPr>
          <p:cNvPr id="16" name="Shape 14"/>
          <p:cNvSpPr/>
          <p:nvPr/>
        </p:nvSpPr>
        <p:spPr>
          <a:xfrm>
            <a:off x="533400" y="4064000"/>
            <a:ext cx="11125200" cy="806450"/>
          </a:xfrm>
          <a:prstGeom prst="roundRect">
            <a:avLst/>
          </a:prstGeom>
          <a:solidFill>
            <a:srgbClr val="FFFFFF"/>
          </a:solidFill>
          <a:ln w="12700">
            <a:solidFill>
              <a:srgbClr val="FFFFFF"/>
            </a:solidFill>
            <a:prstDash val="solid"/>
          </a:ln>
        </p:spPr>
      </p:sp>
      <p:sp>
        <p:nvSpPr>
          <p:cNvPr id="17" name="Shape 15"/>
          <p:cNvSpPr/>
          <p:nvPr/>
        </p:nvSpPr>
        <p:spPr>
          <a:xfrm>
            <a:off x="533400" y="4064000"/>
            <a:ext cx="50800" cy="806450"/>
          </a:xfrm>
          <a:prstGeom prst="rect">
            <a:avLst/>
          </a:prstGeom>
          <a:solidFill>
            <a:srgbClr val="3B54DB"/>
          </a:solidFill>
          <a:ln w="12700">
            <a:solidFill>
              <a:srgbClr val="3B54DB"/>
            </a:solidFill>
            <a:prstDash val="solid"/>
          </a:ln>
        </p:spPr>
      </p:sp>
      <p:sp>
        <p:nvSpPr>
          <p:cNvPr id="18" name="Text 16"/>
          <p:cNvSpPr/>
          <p:nvPr/>
        </p:nvSpPr>
        <p:spPr>
          <a:xfrm>
            <a:off x="736600" y="424180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03</a:t>
            </a:r>
            <a:endParaRPr lang="en-US" sz="1300" dirty="0"/>
          </a:p>
        </p:txBody>
      </p:sp>
      <p:sp>
        <p:nvSpPr>
          <p:cNvPr id="19" name="Text 17"/>
          <p:cNvSpPr/>
          <p:nvPr/>
        </p:nvSpPr>
        <p:spPr>
          <a:xfrm>
            <a:off x="1231900" y="4229100"/>
            <a:ext cx="10210800" cy="527050"/>
          </a:xfrm>
          <a:prstGeom prst="rect">
            <a:avLst/>
          </a:prstGeom>
          <a:noFill/>
          <a:ln/>
        </p:spPr>
        <p:txBody>
          <a:bodyPr wrap="square" lIns="0" tIns="0" rIns="0" bIns="0" rtlCol="0" anchor="t"/>
          <a:lstStyle/>
          <a:p>
            <a:pPr indent="0" marL="0">
              <a:lnSpc>
                <a:spcPct val="123000"/>
              </a:lnSpc>
              <a:buNone/>
            </a:pPr>
            <a:r>
              <a:rPr lang="en-US" sz="1650" dirty="0">
                <a:solidFill>
                  <a:srgbClr val="172554"/>
                </a:solidFill>
                <a:latin typeface="Arial" pitchFamily="34" charset="0"/>
                <a:ea typeface="Arial" pitchFamily="34" charset="-122"/>
                <a:cs typeface="Arial" pitchFamily="34" charset="-120"/>
              </a:rPr>
              <a:t>Compromiso docente: Fomentar la honestidad académica estableciendo pautas claras sobre cuándo y cómo</a:t>
            </a:r>
            <a:endParaRPr lang="en-US" sz="1650" dirty="0"/>
          </a:p>
          <a:p>
            <a:pPr indent="0" marL="0">
              <a:lnSpc>
                <a:spcPct val="123000"/>
              </a:lnSpc>
              <a:buNone/>
            </a:pPr>
            <a:r>
              <a:rPr lang="en-US" sz="1650" dirty="0">
                <a:solidFill>
                  <a:srgbClr val="172554"/>
                </a:solidFill>
                <a:latin typeface="Arial" pitchFamily="34" charset="0"/>
                <a:ea typeface="Arial" pitchFamily="34" charset="-122"/>
                <a:cs typeface="Arial" pitchFamily="34" charset="-120"/>
              </a:rPr>
              <a:t>usar asistentes inteligentes.</a:t>
            </a:r>
            <a:endParaRPr lang="en-US" sz="1650" dirty="0"/>
          </a:p>
        </p:txBody>
      </p:sp>
      <p:sp>
        <p:nvSpPr>
          <p:cNvPr id="20" name="Shape 18"/>
          <p:cNvSpPr/>
          <p:nvPr/>
        </p:nvSpPr>
        <p:spPr>
          <a:xfrm>
            <a:off x="533400" y="5022850"/>
            <a:ext cx="11125200" cy="806450"/>
          </a:xfrm>
          <a:prstGeom prst="roundRect">
            <a:avLst/>
          </a:prstGeom>
          <a:solidFill>
            <a:srgbClr val="FFFFFF"/>
          </a:solidFill>
          <a:ln w="12700">
            <a:solidFill>
              <a:srgbClr val="FFFFFF"/>
            </a:solidFill>
            <a:prstDash val="solid"/>
          </a:ln>
        </p:spPr>
      </p:sp>
      <p:sp>
        <p:nvSpPr>
          <p:cNvPr id="21" name="Shape 19"/>
          <p:cNvSpPr/>
          <p:nvPr/>
        </p:nvSpPr>
        <p:spPr>
          <a:xfrm>
            <a:off x="533400" y="5022850"/>
            <a:ext cx="50800" cy="806450"/>
          </a:xfrm>
          <a:prstGeom prst="rect">
            <a:avLst/>
          </a:prstGeom>
          <a:solidFill>
            <a:srgbClr val="06B6D4"/>
          </a:solidFill>
          <a:ln w="12700">
            <a:solidFill>
              <a:srgbClr val="06B6D4"/>
            </a:solidFill>
            <a:prstDash val="solid"/>
          </a:ln>
        </p:spPr>
      </p:sp>
      <p:sp>
        <p:nvSpPr>
          <p:cNvPr id="22" name="Text 20"/>
          <p:cNvSpPr/>
          <p:nvPr/>
        </p:nvSpPr>
        <p:spPr>
          <a:xfrm>
            <a:off x="736600" y="5200650"/>
            <a:ext cx="355600" cy="317500"/>
          </a:xfrm>
          <a:prstGeom prst="rect">
            <a:avLst/>
          </a:prstGeom>
          <a:noFill/>
          <a:ln/>
        </p:spPr>
        <p:txBody>
          <a:bodyPr wrap="square" lIns="0" tIns="0" rIns="0" bIns="0" rtlCol="0" anchor="t"/>
          <a:lstStyle/>
          <a:p>
            <a:pPr indent="0" marL="0">
              <a:lnSpc>
                <a:spcPct val="123000"/>
              </a:lnSpc>
              <a:buNone/>
            </a:pPr>
            <a:r>
              <a:rPr lang="en-US" sz="1300" b="1" dirty="0">
                <a:solidFill>
                  <a:srgbClr val="3B54DB"/>
                </a:solidFill>
                <a:latin typeface="Arial" pitchFamily="34" charset="0"/>
                <a:ea typeface="Arial" pitchFamily="34" charset="-122"/>
                <a:cs typeface="Arial" pitchFamily="34" charset="-120"/>
              </a:rPr>
              <a:t>04</a:t>
            </a:r>
            <a:endParaRPr lang="en-US" sz="1300" dirty="0"/>
          </a:p>
        </p:txBody>
      </p:sp>
      <p:sp>
        <p:nvSpPr>
          <p:cNvPr id="23" name="Text 21"/>
          <p:cNvSpPr/>
          <p:nvPr/>
        </p:nvSpPr>
        <p:spPr>
          <a:xfrm>
            <a:off x="1231900" y="5187950"/>
            <a:ext cx="10210800" cy="527050"/>
          </a:xfrm>
          <a:prstGeom prst="rect">
            <a:avLst/>
          </a:prstGeom>
          <a:noFill/>
          <a:ln/>
        </p:spPr>
        <p:txBody>
          <a:bodyPr wrap="square" lIns="0" tIns="0" rIns="0" bIns="0" rtlCol="0" anchor="t"/>
          <a:lstStyle/>
          <a:p>
            <a:pPr indent="0" marL="0">
              <a:lnSpc>
                <a:spcPct val="123000"/>
              </a:lnSpc>
              <a:buNone/>
            </a:pPr>
            <a:r>
              <a:rPr lang="en-US" sz="1650" dirty="0">
                <a:solidFill>
                  <a:srgbClr val="172554"/>
                </a:solidFill>
                <a:latin typeface="Arial" pitchFamily="34" charset="0"/>
                <a:ea typeface="Arial" pitchFamily="34" charset="-122"/>
                <a:cs typeface="Arial" pitchFamily="34" charset="-120"/>
              </a:rPr>
              <a:t>¿Cómo integrarás estas herramientas en tu próxima unidad didáctica manteniendo el pensamiento crítico</a:t>
            </a:r>
            <a:endParaRPr lang="en-US" sz="1650" dirty="0"/>
          </a:p>
          <a:p>
            <a:pPr indent="0" marL="0">
              <a:lnSpc>
                <a:spcPct val="123000"/>
              </a:lnSpc>
              <a:buNone/>
            </a:pPr>
            <a:r>
              <a:rPr lang="en-US" sz="1650" dirty="0">
                <a:solidFill>
                  <a:srgbClr val="172554"/>
                </a:solidFill>
                <a:latin typeface="Arial" pitchFamily="34" charset="0"/>
                <a:ea typeface="Arial" pitchFamily="34" charset="-122"/>
                <a:cs typeface="Arial" pitchFamily="34" charset="-120"/>
              </a:rPr>
              <a:t>como eje central?</a:t>
            </a:r>
            <a:endParaRPr lang="en-US" sz="1650" dirty="0"/>
          </a:p>
        </p:txBody>
      </p:sp>
      <p:sp>
        <p:nvSpPr>
          <p:cNvPr id="24" name="Shape 22"/>
          <p:cNvSpPr/>
          <p:nvPr/>
        </p:nvSpPr>
        <p:spPr>
          <a:xfrm>
            <a:off x="533400" y="6019800"/>
            <a:ext cx="11125200" cy="342900"/>
          </a:xfrm>
          <a:prstGeom prst="roundRect">
            <a:avLst/>
          </a:prstGeom>
          <a:solidFill>
            <a:srgbClr val="E3E9FF"/>
          </a:solidFill>
          <a:ln w="12700">
            <a:solidFill>
              <a:srgbClr val="E3E9FF"/>
            </a:solidFill>
            <a:prstDash val="solid"/>
          </a:ln>
        </p:spPr>
      </p:sp>
      <p:sp>
        <p:nvSpPr>
          <p:cNvPr id="25" name="Text 23"/>
          <p:cNvSpPr/>
          <p:nvPr/>
        </p:nvSpPr>
        <p:spPr>
          <a:xfrm>
            <a:off x="685800" y="6108700"/>
            <a:ext cx="10820400" cy="228600"/>
          </a:xfrm>
          <a:prstGeom prst="rect">
            <a:avLst/>
          </a:prstGeom>
          <a:noFill/>
          <a:ln/>
        </p:spPr>
        <p:txBody>
          <a:bodyPr wrap="square" lIns="0" tIns="0" rIns="0" bIns="0" rtlCol="0" anchor="t"/>
          <a:lstStyle/>
          <a:p>
            <a:pPr indent="0" marL="0">
              <a:lnSpc>
                <a:spcPct val="123000"/>
              </a:lnSpc>
              <a:buNone/>
            </a:pPr>
            <a:r>
              <a:rPr lang="en-US" sz="1100" b="1" dirty="0">
                <a:solidFill>
                  <a:srgbClr val="3B54DB"/>
                </a:solidFill>
                <a:latin typeface="Arial" pitchFamily="34" charset="0"/>
                <a:ea typeface="Arial" pitchFamily="34" charset="-122"/>
                <a:cs typeface="Arial" pitchFamily="34" charset="-120"/>
              </a:rPr>
              <a:t>El pensamiento crítico es el mejor filtro frente a cualquier tecnología emergente.</a:t>
            </a:r>
            <a:endParaRPr lang="en-US" sz="1100" dirty="0"/>
          </a:p>
        </p:txBody>
      </p:sp>
      <p:sp>
        <p:nvSpPr>
          <p:cNvPr id="26" name="Text 24"/>
          <p:cNvSpPr/>
          <p:nvPr/>
        </p:nvSpPr>
        <p:spPr>
          <a:xfrm>
            <a:off x="533400" y="6540500"/>
            <a:ext cx="8255000" cy="190500"/>
          </a:xfrm>
          <a:prstGeom prst="rect">
            <a:avLst/>
          </a:prstGeom>
          <a:noFill/>
          <a:ln/>
        </p:spPr>
        <p:txBody>
          <a:bodyPr wrap="square" lIns="0" tIns="0" rIns="0" bIns="0" rtlCol="0" anchor="t"/>
          <a:lstStyle/>
          <a:p>
            <a:pPr indent="0" marL="0">
              <a:lnSpc>
                <a:spcPct val="123000"/>
              </a:lnSpc>
              <a:buNone/>
            </a:pPr>
            <a:r>
              <a:rPr lang="en-US" sz="800" dirty="0">
                <a:solidFill>
                  <a:srgbClr val="172554"/>
                </a:solidFill>
                <a:latin typeface="Arial" pitchFamily="34" charset="0"/>
                <a:ea typeface="Arial" pitchFamily="34" charset="-122"/>
                <a:cs typeface="Arial" pitchFamily="34" charset="-120"/>
              </a:rPr>
              <a:t>Inteligencia Artificial en el Aula: Guía Práctica para Docentes</a:t>
            </a:r>
            <a:endParaRPr lang="en-US" sz="800" dirty="0"/>
          </a:p>
        </p:txBody>
      </p:sp>
      <p:sp>
        <p:nvSpPr>
          <p:cNvPr id="27" name="Text 25"/>
          <p:cNvSpPr/>
          <p:nvPr/>
        </p:nvSpPr>
        <p:spPr>
          <a:xfrm>
            <a:off x="10922000" y="6515100"/>
            <a:ext cx="736600" cy="228600"/>
          </a:xfrm>
          <a:prstGeom prst="rect">
            <a:avLst/>
          </a:prstGeom>
          <a:noFill/>
          <a:ln/>
        </p:spPr>
        <p:txBody>
          <a:bodyPr wrap="square" lIns="0" tIns="0" rIns="0" bIns="0" rtlCol="0" anchor="t"/>
          <a:lstStyle/>
          <a:p>
            <a:pPr indent="0" marL="0">
              <a:lnSpc>
                <a:spcPct val="123000"/>
              </a:lnSpc>
              <a:buNone/>
            </a:pPr>
            <a:r>
              <a:rPr lang="en-US" sz="900" b="1" dirty="0">
                <a:solidFill>
                  <a:srgbClr val="3B54DB"/>
                </a:solidFill>
                <a:latin typeface="Arial" pitchFamily="34" charset="0"/>
                <a:ea typeface="Arial" pitchFamily="34" charset="-122"/>
                <a:cs typeface="Arial" pitchFamily="34" charset="-120"/>
              </a:rPr>
              <a:t>6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F"/>
        </a:solidFill>
      </p:bgPr>
    </p:bg>
    <p:spTree>
      <p:nvGrpSpPr>
        <p:cNvPr id="1" name=""/>
        <p:cNvGrpSpPr/>
        <p:nvPr/>
      </p:nvGrpSpPr>
      <p:grpSpPr>
        <a:xfrm>
          <a:off x="0" y="0"/>
          <a:ext cx="0" cy="0"/>
          <a:chOff x="0" y="0"/>
          <a:chExt cx="0" cy="0"/>
        </a:xfrm>
      </p:grpSpPr>
      <p:sp>
        <p:nvSpPr>
          <p:cNvPr id="2" name="Shape 0"/>
          <p:cNvSpPr/>
          <p:nvPr/>
        </p:nvSpPr>
        <p:spPr>
          <a:xfrm>
            <a:off x="0" y="0"/>
            <a:ext cx="12192000" cy="114300"/>
          </a:xfrm>
          <a:prstGeom prst="rect">
            <a:avLst/>
          </a:prstGeom>
          <a:solidFill>
            <a:srgbClr val="3B54DB"/>
          </a:solidFill>
          <a:ln w="12700">
            <a:solidFill>
              <a:srgbClr val="3B54DB"/>
            </a:solidFill>
            <a:prstDash val="solid"/>
          </a:ln>
        </p:spPr>
      </p:sp>
      <p:sp>
        <p:nvSpPr>
          <p:cNvPr id="3" name="Text 1"/>
          <p:cNvSpPr/>
          <p:nvPr/>
        </p:nvSpPr>
        <p:spPr>
          <a:xfrm>
            <a:off x="533400" y="571500"/>
            <a:ext cx="10795000" cy="762000"/>
          </a:xfrm>
          <a:prstGeom prst="rect">
            <a:avLst/>
          </a:prstGeom>
          <a:noFill/>
          <a:ln/>
        </p:spPr>
        <p:txBody>
          <a:bodyPr wrap="square" lIns="0" tIns="0" rIns="0" bIns="0" rtlCol="0" anchor="t"/>
          <a:lstStyle/>
          <a:p>
            <a:pPr indent="0" marL="0">
              <a:lnSpc>
                <a:spcPct val="123000"/>
              </a:lnSpc>
              <a:buNone/>
            </a:pPr>
            <a:r>
              <a:rPr lang="en-US" sz="3000" b="1" dirty="0">
                <a:solidFill>
                  <a:srgbClr val="172554"/>
                </a:solidFill>
                <a:latin typeface="Arial" pitchFamily="34" charset="0"/>
                <a:ea typeface="Arial" pitchFamily="34" charset="-122"/>
                <a:cs typeface="Arial" pitchFamily="34" charset="-120"/>
              </a:rPr>
              <a:t>Créditos de imágenes</a:t>
            </a:r>
            <a:endParaRPr lang="en-US" sz="3000" dirty="0"/>
          </a:p>
        </p:txBody>
      </p:sp>
      <p:sp>
        <p:nvSpPr>
          <p:cNvPr id="4" name="Shape 2"/>
          <p:cNvSpPr/>
          <p:nvPr/>
        </p:nvSpPr>
        <p:spPr>
          <a:xfrm>
            <a:off x="482600" y="1524000"/>
            <a:ext cx="1371600" cy="965200"/>
          </a:xfrm>
          <a:prstGeom prst="roundRect">
            <a:avLst/>
          </a:prstGeom>
          <a:solidFill>
            <a:srgbClr val="E3E9FF"/>
          </a:solidFill>
          <a:ln w="12700">
            <a:solidFill>
              <a:srgbClr val="E3E9FF"/>
            </a:solidFill>
            <a:prstDash val="solid"/>
          </a:ln>
        </p:spPr>
      </p:sp>
      <p:pic>
        <p:nvPicPr>
          <p:cNvPr id="5" name="Image 0" descr="Integrated physical artificial intelligence.png">    </p:cNvPr>
          <p:cNvPicPr>
            <a:picLocks noChangeAspect="1"/>
          </p:cNvPicPr>
          <p:nvPr/>
        </p:nvPicPr>
        <p:blipFill>
          <a:blip r:embed="rId1"/>
          <a:stretch>
            <a:fillRect/>
          </a:stretch>
        </p:blipFill>
        <p:spPr>
          <a:xfrm>
            <a:off x="584200" y="1690548"/>
            <a:ext cx="1168400" cy="632104"/>
          </a:xfrm>
          <a:prstGeom prst="rect">
            <a:avLst/>
          </a:prstGeom>
        </p:spPr>
      </p:pic>
      <p:sp>
        <p:nvSpPr>
          <p:cNvPr id="6" name="Text 3">
            <a:hlinkClick r:id="rId2" tooltip=""/>
          </p:cNvPr>
          <p:cNvSpPr/>
          <p:nvPr/>
        </p:nvSpPr>
        <p:spPr>
          <a:xfrm>
            <a:off x="2032000" y="1625600"/>
            <a:ext cx="9525000" cy="812800"/>
          </a:xfrm>
          <a:prstGeom prst="rect">
            <a:avLst/>
          </a:prstGeom>
          <a:noFill/>
          <a:ln/>
        </p:spPr>
        <p:txBody>
          <a:bodyPr wrap="square" lIns="0" tIns="0" rIns="0" bIns="0" rtlCol="0" anchor="t"/>
          <a:lstStyle/>
          <a:p>
            <a:pPr indent="0" marL="0">
              <a:lnSpc>
                <a:spcPct val="123000"/>
              </a:lnSpc>
              <a:buNone/>
            </a:pPr>
            <a:r>
              <a:rPr lang="en-US" sz="1200" u="sng" dirty="0">
                <a:solidFill>
                  <a:srgbClr val="172554"/>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Integrated physical artificial intelligence.png</a:t>
            </a:r>
            <a:endParaRPr lang="en-US" sz="1200" dirty="0"/>
          </a:p>
          <a:p>
            <a:pPr indent="0" marL="0">
              <a:lnSpc>
                <a:spcPct val="123000"/>
              </a:lnSpc>
              <a:buNone/>
            </a:pPr>
            <a:r>
              <a:rPr lang="en-US" sz="1200" u="sng" dirty="0">
                <a:solidFill>
                  <a:srgbClr val="172554"/>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Authors of the preprint study: Yingbo Li, Yucong Duan, Anamaria-Beatrice Spulber, Haoyang Che, Zakaria Maamar, Zhao Li, Chen Yang, Yu</a:t>
            </a:r>
            <a:endParaRPr lang="en-US" sz="1200" dirty="0"/>
          </a:p>
          <a:p>
            <a:pPr indent="0" marL="0">
              <a:lnSpc>
                <a:spcPct val="123000"/>
              </a:lnSpc>
              <a:buNone/>
            </a:pPr>
            <a:r>
              <a:rPr lang="en-US" sz="1200" u="sng" dirty="0">
                <a:solidFill>
                  <a:srgbClr val="172554"/>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lei · CC BY 4.0</a:t>
            </a:r>
            <a:endParaRPr lang="en-US" sz="1200" dirty="0"/>
          </a:p>
        </p:txBody>
      </p:sp>
      <p:sp>
        <p:nvSpPr>
          <p:cNvPr id="7" name="Shape 4"/>
          <p:cNvSpPr/>
          <p:nvPr/>
        </p:nvSpPr>
        <p:spPr>
          <a:xfrm>
            <a:off x="482600" y="2603500"/>
            <a:ext cx="1371600" cy="965200"/>
          </a:xfrm>
          <a:prstGeom prst="roundRect">
            <a:avLst/>
          </a:prstGeom>
          <a:solidFill>
            <a:srgbClr val="E3E9FF"/>
          </a:solidFill>
          <a:ln w="12700">
            <a:solidFill>
              <a:srgbClr val="E3E9FF"/>
            </a:solidFill>
            <a:prstDash val="solid"/>
          </a:ln>
        </p:spPr>
      </p:sp>
      <p:pic>
        <p:nvPicPr>
          <p:cNvPr id="8" name="Image 1" descr="Artificial Intelligence, AI.jpg">    </p:cNvPr>
          <p:cNvPicPr>
            <a:picLocks noChangeAspect="1"/>
          </p:cNvPicPr>
          <p:nvPr/>
        </p:nvPicPr>
        <p:blipFill>
          <a:blip r:embed="rId3"/>
          <a:stretch>
            <a:fillRect/>
          </a:stretch>
        </p:blipFill>
        <p:spPr>
          <a:xfrm>
            <a:off x="692150" y="2705100"/>
            <a:ext cx="952500" cy="762000"/>
          </a:xfrm>
          <a:prstGeom prst="rect">
            <a:avLst/>
          </a:prstGeom>
        </p:spPr>
      </p:pic>
      <p:sp>
        <p:nvSpPr>
          <p:cNvPr id="9" name="Text 5">
            <a:hlinkClick r:id="rId4" tooltip=""/>
          </p:cNvPr>
          <p:cNvSpPr/>
          <p:nvPr/>
        </p:nvSpPr>
        <p:spPr>
          <a:xfrm>
            <a:off x="2032000" y="2705100"/>
            <a:ext cx="9525000" cy="812800"/>
          </a:xfrm>
          <a:prstGeom prst="rect">
            <a:avLst/>
          </a:prstGeom>
          <a:noFill/>
          <a:ln/>
        </p:spPr>
        <p:txBody>
          <a:bodyPr wrap="square" lIns="0" tIns="0" rIns="0" bIns="0" rtlCol="0" anchor="t"/>
          <a:lstStyle/>
          <a:p>
            <a:pPr indent="0" marL="0">
              <a:lnSpc>
                <a:spcPct val="123000"/>
              </a:lnSpc>
              <a:buNone/>
            </a:pPr>
            <a:r>
              <a:rPr lang="en-US" sz="1200" u="sng" dirty="0">
                <a:solidFill>
                  <a:srgbClr val="172554"/>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Artificial Intelligence, AI.jpg</a:t>
            </a:r>
            <a:endParaRPr lang="en-US" sz="1200" dirty="0"/>
          </a:p>
          <a:p>
            <a:pPr indent="0" marL="0">
              <a:lnSpc>
                <a:spcPct val="123000"/>
              </a:lnSpc>
              <a:buNone/>
            </a:pPr>
            <a:r>
              <a:rPr lang="en-US" sz="1200" u="sng" dirty="0">
                <a:solidFill>
                  <a:srgbClr val="172554"/>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mikemacmarketing · CC BY 2.0</a:t>
            </a:r>
            <a:endParaRPr lang="en-US" sz="1200" dirty="0"/>
          </a:p>
        </p:txBody>
      </p:sp>
      <p:sp>
        <p:nvSpPr>
          <p:cNvPr id="10" name="Shape 6"/>
          <p:cNvSpPr/>
          <p:nvPr/>
        </p:nvSpPr>
        <p:spPr>
          <a:xfrm>
            <a:off x="482600" y="3683000"/>
            <a:ext cx="1371600" cy="965200"/>
          </a:xfrm>
          <a:prstGeom prst="roundRect">
            <a:avLst/>
          </a:prstGeom>
          <a:solidFill>
            <a:srgbClr val="E3E9FF"/>
          </a:solidFill>
          <a:ln w="12700">
            <a:solidFill>
              <a:srgbClr val="E3E9FF"/>
            </a:solidFill>
            <a:prstDash val="solid"/>
          </a:ln>
        </p:spPr>
      </p:sp>
      <p:pic>
        <p:nvPicPr>
          <p:cNvPr id="11" name="Image 2" descr="Laptop computer.jpeg">    </p:cNvPr>
          <p:cNvPicPr>
            <a:picLocks noChangeAspect="1"/>
          </p:cNvPicPr>
          <p:nvPr/>
        </p:nvPicPr>
        <p:blipFill>
          <a:blip r:embed="rId5"/>
          <a:stretch>
            <a:fillRect/>
          </a:stretch>
        </p:blipFill>
        <p:spPr>
          <a:xfrm>
            <a:off x="597186" y="3784600"/>
            <a:ext cx="1142429" cy="762000"/>
          </a:xfrm>
          <a:prstGeom prst="rect">
            <a:avLst/>
          </a:prstGeom>
        </p:spPr>
      </p:pic>
      <p:sp>
        <p:nvSpPr>
          <p:cNvPr id="12" name="Text 7">
            <a:hlinkClick r:id="rId6" tooltip=""/>
          </p:cNvPr>
          <p:cNvSpPr/>
          <p:nvPr/>
        </p:nvSpPr>
        <p:spPr>
          <a:xfrm>
            <a:off x="2032000" y="3784600"/>
            <a:ext cx="9525000" cy="812800"/>
          </a:xfrm>
          <a:prstGeom prst="rect">
            <a:avLst/>
          </a:prstGeom>
          <a:noFill/>
          <a:ln/>
        </p:spPr>
        <p:txBody>
          <a:bodyPr wrap="square" lIns="0" tIns="0" rIns="0" bIns="0" rtlCol="0" anchor="t"/>
          <a:lstStyle/>
          <a:p>
            <a:pPr indent="0" marL="0">
              <a:lnSpc>
                <a:spcPct val="123000"/>
              </a:lnSpc>
              <a:buNone/>
            </a:pPr>
            <a:r>
              <a:rPr lang="en-US" sz="1200" u="sng" dirty="0">
                <a:solidFill>
                  <a:srgbClr val="172554"/>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Laptop computer.jpeg</a:t>
            </a:r>
            <a:endParaRPr lang="en-US" sz="1200" dirty="0"/>
          </a:p>
          <a:p>
            <a:pPr indent="0" marL="0">
              <a:lnSpc>
                <a:spcPct val="123000"/>
              </a:lnSpc>
              <a:buNone/>
            </a:pPr>
            <a:r>
              <a:rPr lang="en-US" sz="1200" u="sng" dirty="0">
                <a:solidFill>
                  <a:srgbClr val="172554"/>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KK IN HK · CC BY-SA 4.0</a:t>
            </a:r>
            <a:endParaRPr lang="en-US" sz="1200" dirty="0"/>
          </a:p>
        </p:txBody>
      </p:sp>
      <p:sp>
        <p:nvSpPr>
          <p:cNvPr id="13" name="Shape 8"/>
          <p:cNvSpPr/>
          <p:nvPr/>
        </p:nvSpPr>
        <p:spPr>
          <a:xfrm>
            <a:off x="482600" y="4762500"/>
            <a:ext cx="1371600" cy="965200"/>
          </a:xfrm>
          <a:prstGeom prst="roundRect">
            <a:avLst/>
          </a:prstGeom>
          <a:solidFill>
            <a:srgbClr val="E3E9FF"/>
          </a:solidFill>
          <a:ln w="12700">
            <a:solidFill>
              <a:srgbClr val="E3E9FF"/>
            </a:solidFill>
            <a:prstDash val="solid"/>
          </a:ln>
        </p:spPr>
      </p:sp>
      <p:pic>
        <p:nvPicPr>
          <p:cNvPr id="14" name="Image 3" descr="Moblie Computer Classroom, JeffCo Library, Belmar Library.jpg">    </p:cNvPr>
          <p:cNvPicPr>
            <a:picLocks noChangeAspect="1"/>
          </p:cNvPicPr>
          <p:nvPr/>
        </p:nvPicPr>
        <p:blipFill>
          <a:blip r:embed="rId7"/>
          <a:stretch>
            <a:fillRect/>
          </a:stretch>
        </p:blipFill>
        <p:spPr>
          <a:xfrm>
            <a:off x="584200" y="4916195"/>
            <a:ext cx="1168400" cy="657809"/>
          </a:xfrm>
          <a:prstGeom prst="rect">
            <a:avLst/>
          </a:prstGeom>
        </p:spPr>
      </p:pic>
      <p:sp>
        <p:nvSpPr>
          <p:cNvPr id="15" name="Text 9">
            <a:hlinkClick r:id="rId8" tooltip=""/>
          </p:cNvPr>
          <p:cNvSpPr/>
          <p:nvPr/>
        </p:nvSpPr>
        <p:spPr>
          <a:xfrm>
            <a:off x="2032000" y="4864100"/>
            <a:ext cx="9525000" cy="812800"/>
          </a:xfrm>
          <a:prstGeom prst="rect">
            <a:avLst/>
          </a:prstGeom>
          <a:noFill/>
          <a:ln/>
        </p:spPr>
        <p:txBody>
          <a:bodyPr wrap="square" lIns="0" tIns="0" rIns="0" bIns="0" rtlCol="0" anchor="t"/>
          <a:lstStyle/>
          <a:p>
            <a:pPr indent="0" marL="0">
              <a:lnSpc>
                <a:spcPct val="123000"/>
              </a:lnSpc>
              <a:buNone/>
            </a:pPr>
            <a:r>
              <a:rPr lang="en-US" sz="1200" u="sng" dirty="0">
                <a:solidFill>
                  <a:srgbClr val="172554"/>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Moblie Computer Classroom, JeffCo Library, Belmar Library.jpg</a:t>
            </a:r>
            <a:endParaRPr lang="en-US" sz="1200" dirty="0"/>
          </a:p>
          <a:p>
            <a:pPr indent="0" marL="0">
              <a:lnSpc>
                <a:spcPct val="123000"/>
              </a:lnSpc>
              <a:buNone/>
            </a:pPr>
            <a:r>
              <a:rPr lang="en-US" sz="1200" u="sng" dirty="0">
                <a:solidFill>
                  <a:srgbClr val="172554"/>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Xnatedawgx · CC BY-SA 4.0</a:t>
            </a:r>
            <a:endParaRPr lang="en-US" sz="1200" dirty="0"/>
          </a:p>
        </p:txBody>
      </p:sp>
      <p:sp>
        <p:nvSpPr>
          <p:cNvPr id="16" name="Text 10"/>
          <p:cNvSpPr/>
          <p:nvPr/>
        </p:nvSpPr>
        <p:spPr>
          <a:xfrm>
            <a:off x="533400" y="6515100"/>
            <a:ext cx="10795000" cy="215900"/>
          </a:xfrm>
          <a:prstGeom prst="rect">
            <a:avLst/>
          </a:prstGeom>
          <a:noFill/>
          <a:ln/>
        </p:spPr>
        <p:txBody>
          <a:bodyPr wrap="square" lIns="0" tIns="0" rIns="0" bIns="0" rtlCol="0" anchor="t"/>
          <a:lstStyle/>
          <a:p>
            <a:pPr indent="0" marL="0">
              <a:lnSpc>
                <a:spcPct val="123000"/>
              </a:lnSpc>
              <a:buNone/>
            </a:pPr>
            <a:r>
              <a:rPr lang="en-US" sz="900" dirty="0">
                <a:solidFill>
                  <a:srgbClr val="3B54DB"/>
                </a:solidFill>
                <a:latin typeface="Arial" pitchFamily="34" charset="0"/>
                <a:ea typeface="Arial" pitchFamily="34" charset="-122"/>
                <a:cs typeface="Arial" pitchFamily="34" charset="-120"/>
              </a:rPr>
              <a:t>Fuente: Wikimedia Commons · Enlaces y licencias disponibles en cada crédito.</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F"/>
        </a:solidFill>
      </p:bgPr>
    </p:bg>
    <p:spTree>
      <p:nvGrpSpPr>
        <p:cNvPr id="1" name=""/>
        <p:cNvGrpSpPr/>
        <p:nvPr/>
      </p:nvGrpSpPr>
      <p:grpSpPr>
        <a:xfrm>
          <a:off x="0" y="0"/>
          <a:ext cx="0" cy="0"/>
          <a:chOff x="0" y="0"/>
          <a:chExt cx="0" cy="0"/>
        </a:xfrm>
      </p:grpSpPr>
      <p:sp>
        <p:nvSpPr>
          <p:cNvPr id="2" name="Shape 0"/>
          <p:cNvSpPr/>
          <p:nvPr/>
        </p:nvSpPr>
        <p:spPr>
          <a:xfrm>
            <a:off x="0" y="0"/>
            <a:ext cx="12192000" cy="114300"/>
          </a:xfrm>
          <a:prstGeom prst="rect">
            <a:avLst/>
          </a:prstGeom>
          <a:solidFill>
            <a:srgbClr val="3B54DB"/>
          </a:solidFill>
          <a:ln w="12700">
            <a:solidFill>
              <a:srgbClr val="3B54DB"/>
            </a:solidFill>
            <a:prstDash val="solid"/>
          </a:ln>
        </p:spPr>
      </p:sp>
      <p:sp>
        <p:nvSpPr>
          <p:cNvPr id="3" name="Text 1"/>
          <p:cNvSpPr/>
          <p:nvPr/>
        </p:nvSpPr>
        <p:spPr>
          <a:xfrm>
            <a:off x="533400" y="571500"/>
            <a:ext cx="10795000" cy="762000"/>
          </a:xfrm>
          <a:prstGeom prst="rect">
            <a:avLst/>
          </a:prstGeom>
          <a:noFill/>
          <a:ln/>
        </p:spPr>
        <p:txBody>
          <a:bodyPr wrap="square" lIns="0" tIns="0" rIns="0" bIns="0" rtlCol="0" anchor="t"/>
          <a:lstStyle/>
          <a:p>
            <a:pPr indent="0" marL="0">
              <a:lnSpc>
                <a:spcPct val="123000"/>
              </a:lnSpc>
              <a:buNone/>
            </a:pPr>
            <a:r>
              <a:rPr lang="en-US" sz="3000" b="1" dirty="0">
                <a:solidFill>
                  <a:srgbClr val="172554"/>
                </a:solidFill>
                <a:latin typeface="Arial" pitchFamily="34" charset="0"/>
                <a:ea typeface="Arial" pitchFamily="34" charset="-122"/>
                <a:cs typeface="Arial" pitchFamily="34" charset="-120"/>
              </a:rPr>
              <a:t>Créditos de imágenes</a:t>
            </a:r>
            <a:endParaRPr lang="en-US" sz="3000" dirty="0"/>
          </a:p>
        </p:txBody>
      </p:sp>
      <p:sp>
        <p:nvSpPr>
          <p:cNvPr id="4" name="Shape 2"/>
          <p:cNvSpPr/>
          <p:nvPr/>
        </p:nvSpPr>
        <p:spPr>
          <a:xfrm>
            <a:off x="482600" y="1524000"/>
            <a:ext cx="1371600" cy="965200"/>
          </a:xfrm>
          <a:prstGeom prst="roundRect">
            <a:avLst/>
          </a:prstGeom>
          <a:solidFill>
            <a:srgbClr val="E3E9FF"/>
          </a:solidFill>
          <a:ln w="12700">
            <a:solidFill>
              <a:srgbClr val="E3E9FF"/>
            </a:solidFill>
            <a:prstDash val="solid"/>
          </a:ln>
        </p:spPr>
      </p:sp>
      <p:pic>
        <p:nvPicPr>
          <p:cNvPr id="5" name="Image 0" descr="Students working on class assignment in computer lab.jpg">    </p:cNvPr>
          <p:cNvPicPr>
            <a:picLocks noChangeAspect="1"/>
          </p:cNvPicPr>
          <p:nvPr/>
        </p:nvPicPr>
        <p:blipFill>
          <a:blip r:embed="rId1"/>
          <a:stretch>
            <a:fillRect/>
          </a:stretch>
        </p:blipFill>
        <p:spPr>
          <a:xfrm>
            <a:off x="660400" y="1625600"/>
            <a:ext cx="1016000" cy="762000"/>
          </a:xfrm>
          <a:prstGeom prst="rect">
            <a:avLst/>
          </a:prstGeom>
        </p:spPr>
      </p:pic>
      <p:sp>
        <p:nvSpPr>
          <p:cNvPr id="6" name="Text 3">
            <a:hlinkClick r:id="rId2" tooltip=""/>
          </p:cNvPr>
          <p:cNvSpPr/>
          <p:nvPr/>
        </p:nvSpPr>
        <p:spPr>
          <a:xfrm>
            <a:off x="2032000" y="1625600"/>
            <a:ext cx="9525000" cy="812800"/>
          </a:xfrm>
          <a:prstGeom prst="rect">
            <a:avLst/>
          </a:prstGeom>
          <a:noFill/>
          <a:ln/>
        </p:spPr>
        <p:txBody>
          <a:bodyPr wrap="square" lIns="0" tIns="0" rIns="0" bIns="0" rtlCol="0" anchor="t"/>
          <a:lstStyle/>
          <a:p>
            <a:pPr indent="0" marL="0">
              <a:lnSpc>
                <a:spcPct val="123000"/>
              </a:lnSpc>
              <a:buNone/>
            </a:pPr>
            <a:r>
              <a:rPr lang="en-US" sz="1200" u="sng" dirty="0">
                <a:solidFill>
                  <a:srgbClr val="172554"/>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Students working on class assignment in computer lab.jpg</a:t>
            </a:r>
            <a:endParaRPr lang="en-US" sz="1200" dirty="0"/>
          </a:p>
          <a:p>
            <a:pPr indent="0" marL="0">
              <a:lnSpc>
                <a:spcPct val="123000"/>
              </a:lnSpc>
              <a:buNone/>
            </a:pPr>
            <a:r>
              <a:rPr lang="en-US" sz="1200" u="sng" dirty="0">
                <a:solidFill>
                  <a:srgbClr val="172554"/>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Michael Surran · CC BY-SA 2.0</a:t>
            </a:r>
            <a:endParaRPr lang="en-US" sz="1200" dirty="0"/>
          </a:p>
        </p:txBody>
      </p:sp>
      <p:sp>
        <p:nvSpPr>
          <p:cNvPr id="7" name="Text 4"/>
          <p:cNvSpPr/>
          <p:nvPr/>
        </p:nvSpPr>
        <p:spPr>
          <a:xfrm>
            <a:off x="533400" y="6515100"/>
            <a:ext cx="10795000" cy="215900"/>
          </a:xfrm>
          <a:prstGeom prst="rect">
            <a:avLst/>
          </a:prstGeom>
          <a:noFill/>
          <a:ln/>
        </p:spPr>
        <p:txBody>
          <a:bodyPr wrap="square" lIns="0" tIns="0" rIns="0" bIns="0" rtlCol="0" anchor="t"/>
          <a:lstStyle/>
          <a:p>
            <a:pPr indent="0" marL="0">
              <a:lnSpc>
                <a:spcPct val="123000"/>
              </a:lnSpc>
              <a:buNone/>
            </a:pPr>
            <a:r>
              <a:rPr lang="en-US" sz="900" dirty="0">
                <a:solidFill>
                  <a:srgbClr val="3B54DB"/>
                </a:solidFill>
                <a:latin typeface="Arial" pitchFamily="34" charset="0"/>
                <a:ea typeface="Arial" pitchFamily="34" charset="-122"/>
                <a:cs typeface="Arial" pitchFamily="34" charset="-120"/>
              </a:rPr>
              <a:t>Fuente: Wikimedia Commons · Enlaces y licencias disponibles en cada crédito.</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Inteligencia Artificial en el Aula: Guía Práctica para Docentes</dc:title>
  <dc:subject>Presentación educativa</dc:subject>
  <dc:creator>Asistente IA para Docentes</dc:creator>
  <cp:lastModifiedBy>Asistente IA para Docentes</cp:lastModifiedBy>
  <cp:revision>1</cp:revision>
  <dcterms:created xsi:type="dcterms:W3CDTF">2026-10-12T04:30:04Z</dcterms:created>
  <dcterms:modified xsi:type="dcterms:W3CDTF">2026-10-12T04:30:04Z</dcterms:modified>
</cp:coreProperties>
</file>